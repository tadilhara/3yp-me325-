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3"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5EB4F91-67CC-43D9-9E01-7572B5A15E79}">
          <p14:sldIdLst>
            <p14:sldId id="256"/>
            <p14:sldId id="257"/>
            <p14:sldId id="258"/>
            <p14:sldId id="259"/>
            <p14:sldId id="260"/>
            <p14:sldId id="261"/>
            <p14:sldId id="263"/>
          </p14:sldIdLst>
        </p14:section>
        <p14:section name="Untitled Section" id="{4BF4F239-CA2B-445A-8C14-418FD1E7581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26A"/>
    <a:srgbClr val="D5F5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viewProps" Target="viewProps.xml" /><Relationship Id="rId5" Type="http://schemas.openxmlformats.org/officeDocument/2006/relationships/slide" Target="slides/slide4.xml" /><Relationship Id="rId10"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27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AECB0-9851-2B9E-40CE-78EB8ECDC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32094-3BAB-6338-E59B-D6DD405FD4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90E9AD-7AE0-87B7-1E05-35860032A9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ACA154-0750-615C-F400-96285593EB0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80118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7" Type="http://schemas.openxmlformats.org/officeDocument/2006/relationships/image" Target="../media/image5.jpe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4.png" /><Relationship Id="rId5" Type="http://schemas.openxmlformats.org/officeDocument/2006/relationships/image" Target="../media/image3.png"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notesSlide" Target="../notesSlides/notesSlide2.xml" /><Relationship Id="rId1" Type="http://schemas.openxmlformats.org/officeDocument/2006/relationships/slideLayout" Target="../slideLayouts/slideLayout1.xml" /><Relationship Id="rId6" Type="http://schemas.openxmlformats.org/officeDocument/2006/relationships/image" Target="../media/image9.jpeg" /><Relationship Id="rId5" Type="http://schemas.openxmlformats.org/officeDocument/2006/relationships/image" Target="../media/image8.png" /><Relationship Id="rId4" Type="http://schemas.openxmlformats.org/officeDocument/2006/relationships/image" Target="../media/image7.jpeg" /></Relationships>
</file>

<file path=ppt/slides/_rels/slide3.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notesSlide" Target="../notesSlides/notesSlide3.xml" /><Relationship Id="rId1" Type="http://schemas.openxmlformats.org/officeDocument/2006/relationships/slideLayout" Target="../slideLayouts/slideLayout1.xml" /><Relationship Id="rId4" Type="http://schemas.openxmlformats.org/officeDocument/2006/relationships/image" Target="../media/image11.png" /></Relationships>
</file>

<file path=ppt/slides/_rels/slide4.xml.rels><?xml version="1.0" encoding="UTF-8" standalone="yes"?>
<Relationships xmlns="http://schemas.openxmlformats.org/package/2006/relationships"><Relationship Id="rId8" Type="http://schemas.openxmlformats.org/officeDocument/2006/relationships/image" Target="../media/image13.png" /><Relationship Id="rId3" Type="http://schemas.microsoft.com/office/2007/relationships/media" Target="../media/media2.mp4" /><Relationship Id="rId7" Type="http://schemas.openxmlformats.org/officeDocument/2006/relationships/image" Target="../media/image12.png" /><Relationship Id="rId12" Type="http://schemas.openxmlformats.org/officeDocument/2006/relationships/image" Target="../media/image17.png" /><Relationship Id="rId2" Type="http://schemas.openxmlformats.org/officeDocument/2006/relationships/video" Target="../media/media1.mp4" /><Relationship Id="rId1" Type="http://schemas.microsoft.com/office/2007/relationships/media" Target="../media/media1.mp4" /><Relationship Id="rId6" Type="http://schemas.openxmlformats.org/officeDocument/2006/relationships/notesSlide" Target="../notesSlides/notesSlide4.xml" /><Relationship Id="rId11" Type="http://schemas.openxmlformats.org/officeDocument/2006/relationships/image" Target="../media/image16.png" /><Relationship Id="rId5" Type="http://schemas.openxmlformats.org/officeDocument/2006/relationships/slideLayout" Target="../slideLayouts/slideLayout1.xml" /><Relationship Id="rId10" Type="http://schemas.openxmlformats.org/officeDocument/2006/relationships/image" Target="../media/image15.png" /><Relationship Id="rId4" Type="http://schemas.openxmlformats.org/officeDocument/2006/relationships/video" Target="../media/media2.mp4" /><Relationship Id="rId9" Type="http://schemas.openxmlformats.org/officeDocument/2006/relationships/image" Target="../media/image14.png" /></Relationships>
</file>

<file path=ppt/slides/_rels/slide5.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5.xml" /><Relationship Id="rId1" Type="http://schemas.openxmlformats.org/officeDocument/2006/relationships/slideLayout" Target="../slideLayouts/slideLayout1.xml" /><Relationship Id="rId5" Type="http://schemas.openxmlformats.org/officeDocument/2006/relationships/image" Target="../media/image20.png" /><Relationship Id="rId4" Type="http://schemas.openxmlformats.org/officeDocument/2006/relationships/image" Target="../media/image19.png" /></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 /><Relationship Id="rId2" Type="http://schemas.openxmlformats.org/officeDocument/2006/relationships/notesSlide" Target="../notesSlides/notesSlide6.xml" /><Relationship Id="rId1" Type="http://schemas.openxmlformats.org/officeDocument/2006/relationships/slideLayout" Target="../slideLayouts/slideLayout1.xml" /><Relationship Id="rId4" Type="http://schemas.openxmlformats.org/officeDocument/2006/relationships/image" Target="../media/image21.emf" /></Relationships>
</file>

<file path=ppt/slides/_rels/slide7.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1B"/>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2C5F2D"/>
          </a:solidFill>
          <a:ln w="12700">
            <a:solidFill>
              <a:srgbClr val="2C5F2D"/>
            </a:solidFill>
            <a:prstDash val="solid"/>
          </a:ln>
        </p:spPr>
        <p:txBody>
          <a:bodyPr/>
          <a:lstStyle/>
          <a:p>
            <a:endParaRPr lang="en-US"/>
          </a:p>
        </p:txBody>
      </p:sp>
      <p:sp>
        <p:nvSpPr>
          <p:cNvPr id="3" name="Shape 1"/>
          <p:cNvSpPr/>
          <p:nvPr/>
        </p:nvSpPr>
        <p:spPr>
          <a:xfrm>
            <a:off x="4251960" y="0"/>
            <a:ext cx="182880" cy="5143500"/>
          </a:xfrm>
          <a:prstGeom prst="rect">
            <a:avLst/>
          </a:prstGeom>
          <a:solidFill>
            <a:srgbClr val="97BC62"/>
          </a:solidFill>
          <a:ln w="12700">
            <a:solidFill>
              <a:srgbClr val="97BC62"/>
            </a:solidFill>
            <a:prstDash val="solid"/>
          </a:ln>
        </p:spPr>
        <p:txBody>
          <a:bodyPr/>
          <a:lstStyle/>
          <a:p>
            <a:endParaRPr lang="en-US"/>
          </a:p>
        </p:txBody>
      </p:sp>
      <p:sp>
        <p:nvSpPr>
          <p:cNvPr id="6" name="Shape 3"/>
          <p:cNvSpPr/>
          <p:nvPr/>
        </p:nvSpPr>
        <p:spPr>
          <a:xfrm>
            <a:off x="4389120" y="1645920"/>
            <a:ext cx="100584" cy="2194560"/>
          </a:xfrm>
          <a:prstGeom prst="rect">
            <a:avLst/>
          </a:prstGeom>
          <a:solidFill>
            <a:srgbClr val="D4A017"/>
          </a:solidFill>
          <a:ln w="12700">
            <a:solidFill>
              <a:srgbClr val="D4A017"/>
            </a:solidFill>
            <a:prstDash val="solid"/>
          </a:ln>
        </p:spPr>
        <p:txBody>
          <a:bodyPr/>
          <a:lstStyle/>
          <a:p>
            <a:endParaRPr lang="en-US"/>
          </a:p>
        </p:txBody>
      </p:sp>
      <p:sp>
        <p:nvSpPr>
          <p:cNvPr id="7" name="Text 4"/>
          <p:cNvSpPr/>
          <p:nvPr/>
        </p:nvSpPr>
        <p:spPr>
          <a:xfrm>
            <a:off x="4709162" y="990075"/>
            <a:ext cx="4206240" cy="1828800"/>
          </a:xfrm>
          <a:prstGeom prst="rect">
            <a:avLst/>
          </a:prstGeom>
          <a:noFill/>
          <a:ln/>
        </p:spPr>
        <p:txBody>
          <a:bodyPr wrap="square" rtlCol="0" anchor="t"/>
          <a:lstStyle/>
          <a:p>
            <a:pPr marL="0" indent="0" algn="l">
              <a:lnSpc>
                <a:spcPct val="120000"/>
              </a:lnSpc>
              <a:buNone/>
            </a:pPr>
            <a:r>
              <a:rPr lang="en-US" sz="2800" b="1" dirty="0">
                <a:solidFill>
                  <a:srgbClr val="FFFFFF"/>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Adaptive Design for</a:t>
            </a:r>
            <a:endParaRPr lang="en-US" sz="2800" dirty="0">
              <a:effectLst>
                <a:outerShdw blurRad="38100" dist="38100" dir="2700000" algn="tl">
                  <a:srgbClr val="000000">
                    <a:alpha val="43137"/>
                  </a:srgbClr>
                </a:outerShdw>
              </a:effectLst>
            </a:endParaRPr>
          </a:p>
          <a:p>
            <a:pPr marL="0" indent="0" algn="l">
              <a:lnSpc>
                <a:spcPct val="120000"/>
              </a:lnSpc>
              <a:buNone/>
            </a:pPr>
            <a:r>
              <a:rPr lang="en-US" sz="2800" b="1" dirty="0">
                <a:solidFill>
                  <a:srgbClr val="FFFFFF"/>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Precision Tea Harvesting</a:t>
            </a:r>
            <a:endParaRPr lang="en-US" sz="2800" dirty="0">
              <a:effectLst>
                <a:outerShdw blurRad="38100" dist="38100" dir="2700000" algn="tl">
                  <a:srgbClr val="000000">
                    <a:alpha val="43137"/>
                  </a:srgbClr>
                </a:outerShdw>
              </a:effectLst>
            </a:endParaRPr>
          </a:p>
        </p:txBody>
      </p:sp>
      <p:sp>
        <p:nvSpPr>
          <p:cNvPr id="8" name="Text 5"/>
          <p:cNvSpPr/>
          <p:nvPr/>
        </p:nvSpPr>
        <p:spPr>
          <a:xfrm>
            <a:off x="4709162" y="2030470"/>
            <a:ext cx="4274014" cy="1005840"/>
          </a:xfrm>
          <a:prstGeom prst="rect">
            <a:avLst/>
          </a:prstGeom>
          <a:noFill/>
          <a:ln/>
        </p:spPr>
        <p:txBody>
          <a:bodyPr wrap="square" rtlCol="0" anchor="t"/>
          <a:lstStyle/>
          <a:p>
            <a:pPr marL="0" indent="0" algn="l">
              <a:lnSpc>
                <a:spcPct val="130000"/>
              </a:lnSpc>
              <a:buNone/>
            </a:pPr>
            <a:r>
              <a:rPr lang="en-US" sz="1600" dirty="0">
                <a:solidFill>
                  <a:schemeClr val="bg1"/>
                </a:solidFill>
                <a:latin typeface="Calibri" pitchFamily="34" charset="0"/>
                <a:ea typeface="Calibri" pitchFamily="34" charset="-122"/>
                <a:cs typeface="Calibri" pitchFamily="34" charset="-120"/>
              </a:rPr>
              <a:t>Evaluation of Existing Systems &amp;</a:t>
            </a:r>
            <a:endParaRPr lang="en-US" sz="1600" dirty="0">
              <a:solidFill>
                <a:schemeClr val="bg1"/>
              </a:solidFill>
            </a:endParaRPr>
          </a:p>
          <a:p>
            <a:pPr marL="0" indent="0" algn="l">
              <a:lnSpc>
                <a:spcPct val="130000"/>
              </a:lnSpc>
              <a:buNone/>
            </a:pPr>
            <a:r>
              <a:rPr lang="en-US" sz="1400" dirty="0">
                <a:solidFill>
                  <a:schemeClr val="bg1"/>
                </a:solidFill>
                <a:latin typeface="Calibri" pitchFamily="34" charset="0"/>
                <a:ea typeface="Calibri" pitchFamily="34" charset="-122"/>
                <a:cs typeface="Calibri" pitchFamily="34" charset="-120"/>
              </a:rPr>
              <a:t>Development</a:t>
            </a:r>
            <a:r>
              <a:rPr lang="en-US" sz="1600" dirty="0">
                <a:solidFill>
                  <a:schemeClr val="bg1"/>
                </a:solidFill>
                <a:latin typeface="Calibri" pitchFamily="34" charset="0"/>
                <a:ea typeface="Calibri" pitchFamily="34" charset="-122"/>
                <a:cs typeface="Calibri" pitchFamily="34" charset="-120"/>
              </a:rPr>
              <a:t> of Improvement Recommendations</a:t>
            </a:r>
            <a:endParaRPr lang="en-US" sz="1600" dirty="0">
              <a:solidFill>
                <a:schemeClr val="bg1"/>
              </a:solidFill>
            </a:endParaRPr>
          </a:p>
        </p:txBody>
      </p:sp>
      <p:sp>
        <p:nvSpPr>
          <p:cNvPr id="9" name="Shape 6"/>
          <p:cNvSpPr/>
          <p:nvPr/>
        </p:nvSpPr>
        <p:spPr>
          <a:xfrm>
            <a:off x="4743796" y="3559364"/>
            <a:ext cx="3931920" cy="0"/>
          </a:xfrm>
          <a:prstGeom prst="line">
            <a:avLst/>
          </a:prstGeom>
          <a:noFill/>
          <a:ln w="12700">
            <a:solidFill>
              <a:srgbClr val="97BC62"/>
            </a:solidFill>
            <a:prstDash val="solid"/>
          </a:ln>
        </p:spPr>
        <p:txBody>
          <a:bodyPr/>
          <a:lstStyle/>
          <a:p>
            <a:endParaRPr lang="en-US"/>
          </a:p>
        </p:txBody>
      </p:sp>
      <p:sp>
        <p:nvSpPr>
          <p:cNvPr id="10" name="Text 7"/>
          <p:cNvSpPr/>
          <p:nvPr/>
        </p:nvSpPr>
        <p:spPr>
          <a:xfrm>
            <a:off x="4709162" y="3559364"/>
            <a:ext cx="4206240" cy="320040"/>
          </a:xfrm>
          <a:prstGeom prst="rect">
            <a:avLst/>
          </a:prstGeom>
          <a:noFill/>
          <a:ln/>
        </p:spPr>
        <p:txBody>
          <a:bodyPr wrap="square" rtlCol="0" anchor="ctr"/>
          <a:lstStyle/>
          <a:p>
            <a:pPr marL="0" indent="0" algn="l">
              <a:buNone/>
            </a:pPr>
            <a:r>
              <a:rPr lang="en-US" sz="1100" i="1" dirty="0">
                <a:solidFill>
                  <a:srgbClr val="AACFAA"/>
                </a:solidFill>
                <a:latin typeface="Calibri" pitchFamily="34" charset="0"/>
                <a:ea typeface="Calibri" pitchFamily="34" charset="-122"/>
                <a:cs typeface="Calibri" pitchFamily="34" charset="-120"/>
              </a:rPr>
              <a:t>ME325 — Mechanical Engineering Group Project</a:t>
            </a:r>
            <a:endParaRPr lang="en-US" sz="1100" dirty="0"/>
          </a:p>
        </p:txBody>
      </p:sp>
      <p:sp>
        <p:nvSpPr>
          <p:cNvPr id="12" name="Text 9"/>
          <p:cNvSpPr/>
          <p:nvPr/>
        </p:nvSpPr>
        <p:spPr>
          <a:xfrm>
            <a:off x="182880" y="4480560"/>
            <a:ext cx="4023360" cy="4114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 Tea Harvesting Research</a:t>
            </a:r>
            <a:endParaRPr lang="en-US" sz="1000" dirty="0"/>
          </a:p>
        </p:txBody>
      </p:sp>
      <p:pic>
        <p:nvPicPr>
          <p:cNvPr id="13" name="Picture 12">
            <a:extLst>
              <a:ext uri="{FF2B5EF4-FFF2-40B4-BE49-F238E27FC236}">
                <a16:creationId xmlns:a16="http://schemas.microsoft.com/office/drawing/2014/main" id="{60DB1C35-676E-66B0-51EF-E6CD5B0F91A3}"/>
              </a:ext>
            </a:extLst>
          </p:cNvPr>
          <p:cNvPicPr>
            <a:picLocks noChangeAspect="1"/>
          </p:cNvPicPr>
          <p:nvPr/>
        </p:nvPicPr>
        <p:blipFill>
          <a:blip r:embed="rId3"/>
          <a:stretch>
            <a:fillRect/>
          </a:stretch>
        </p:blipFill>
        <p:spPr>
          <a:xfrm>
            <a:off x="-9529" y="197152"/>
            <a:ext cx="4444369" cy="4749196"/>
          </a:xfrm>
          <a:prstGeom prst="rect">
            <a:avLst/>
          </a:prstGeom>
        </p:spPr>
      </p:pic>
      <p:pic>
        <p:nvPicPr>
          <p:cNvPr id="14" name="Picture 13">
            <a:extLst>
              <a:ext uri="{FF2B5EF4-FFF2-40B4-BE49-F238E27FC236}">
                <a16:creationId xmlns:a16="http://schemas.microsoft.com/office/drawing/2014/main" id="{A34229B1-7CF2-40CB-B1CD-364A6A72E5B7}"/>
              </a:ext>
            </a:extLst>
          </p:cNvPr>
          <p:cNvPicPr>
            <a:picLocks noChangeAspect="1"/>
          </p:cNvPicPr>
          <p:nvPr/>
        </p:nvPicPr>
        <p:blipFill>
          <a:blip r:embed="rId4"/>
          <a:stretch>
            <a:fillRect/>
          </a:stretch>
        </p:blipFill>
        <p:spPr>
          <a:xfrm>
            <a:off x="0" y="0"/>
            <a:ext cx="4434840" cy="5143500"/>
          </a:xfrm>
          <a:prstGeom prst="rect">
            <a:avLst/>
          </a:prstGeom>
          <a:effectLst>
            <a:outerShdw blurRad="1270000" dist="50800" dir="5400000" sx="1000" sy="1000" algn="ctr" rotWithShape="0">
              <a:schemeClr val="accent6">
                <a:lumMod val="20000"/>
                <a:lumOff val="80000"/>
              </a:schemeClr>
            </a:outerShdw>
          </a:effectLst>
        </p:spPr>
      </p:pic>
      <p:pic>
        <p:nvPicPr>
          <p:cNvPr id="15" name="Picture 14">
            <a:extLst>
              <a:ext uri="{FF2B5EF4-FFF2-40B4-BE49-F238E27FC236}">
                <a16:creationId xmlns:a16="http://schemas.microsoft.com/office/drawing/2014/main" id="{FF6C7979-C7A5-020F-891E-2E62C62C0AB3}"/>
              </a:ext>
            </a:extLst>
          </p:cNvPr>
          <p:cNvPicPr>
            <a:picLocks noChangeAspect="1"/>
          </p:cNvPicPr>
          <p:nvPr/>
        </p:nvPicPr>
        <p:blipFill>
          <a:blip r:embed="rId5"/>
          <a:stretch>
            <a:fillRect/>
          </a:stretch>
        </p:blipFill>
        <p:spPr>
          <a:xfrm>
            <a:off x="4386452" y="1645920"/>
            <a:ext cx="115834" cy="2206943"/>
          </a:xfrm>
          <a:prstGeom prst="rect">
            <a:avLst/>
          </a:prstGeom>
        </p:spPr>
      </p:pic>
      <p:sp>
        <p:nvSpPr>
          <p:cNvPr id="16" name="TextBox 15">
            <a:extLst>
              <a:ext uri="{FF2B5EF4-FFF2-40B4-BE49-F238E27FC236}">
                <a16:creationId xmlns:a16="http://schemas.microsoft.com/office/drawing/2014/main" id="{E07008F5-2894-158A-0058-081253D79A3E}"/>
              </a:ext>
            </a:extLst>
          </p:cNvPr>
          <p:cNvSpPr txBox="1"/>
          <p:nvPr/>
        </p:nvSpPr>
        <p:spPr>
          <a:xfrm>
            <a:off x="4643175" y="4153425"/>
            <a:ext cx="2331698" cy="830997"/>
          </a:xfrm>
          <a:prstGeom prst="rect">
            <a:avLst/>
          </a:prstGeom>
          <a:noFill/>
        </p:spPr>
        <p:txBody>
          <a:bodyPr wrap="square" rtlCol="0">
            <a:spAutoFit/>
          </a:bodyPr>
          <a:lstStyle/>
          <a:p>
            <a:r>
              <a:rPr lang="en-US" sz="1200" b="1" u="sng" dirty="0">
                <a:solidFill>
                  <a:schemeClr val="accent6">
                    <a:lumMod val="20000"/>
                    <a:lumOff val="80000"/>
                  </a:schemeClr>
                </a:solidFill>
              </a:rPr>
              <a:t>Group Members</a:t>
            </a:r>
            <a:br>
              <a:rPr lang="en-US" sz="1200" dirty="0">
                <a:solidFill>
                  <a:schemeClr val="accent6">
                    <a:lumMod val="20000"/>
                    <a:lumOff val="80000"/>
                  </a:schemeClr>
                </a:solidFill>
              </a:rPr>
            </a:br>
            <a:r>
              <a:rPr lang="en-US" sz="1200" dirty="0" err="1">
                <a:solidFill>
                  <a:schemeClr val="accent6">
                    <a:lumMod val="20000"/>
                    <a:lumOff val="80000"/>
                  </a:schemeClr>
                </a:solidFill>
              </a:rPr>
              <a:t>Theekshana</a:t>
            </a:r>
            <a:r>
              <a:rPr lang="en-US" sz="1200" dirty="0">
                <a:solidFill>
                  <a:schemeClr val="accent6">
                    <a:lumMod val="20000"/>
                    <a:lumOff val="80000"/>
                  </a:schemeClr>
                </a:solidFill>
              </a:rPr>
              <a:t> </a:t>
            </a:r>
            <a:r>
              <a:rPr lang="en-US" sz="1200" dirty="0" err="1">
                <a:solidFill>
                  <a:schemeClr val="accent6">
                    <a:lumMod val="20000"/>
                    <a:lumOff val="80000"/>
                  </a:schemeClr>
                </a:solidFill>
              </a:rPr>
              <a:t>Dilhara</a:t>
            </a:r>
            <a:r>
              <a:rPr lang="en-US" sz="1200" dirty="0">
                <a:solidFill>
                  <a:schemeClr val="accent6">
                    <a:lumMod val="20000"/>
                    <a:lumOff val="80000"/>
                  </a:schemeClr>
                </a:solidFill>
              </a:rPr>
              <a:t> [E/21/097]</a:t>
            </a:r>
            <a:br>
              <a:rPr lang="en-US" sz="1200" dirty="0">
                <a:solidFill>
                  <a:schemeClr val="accent6">
                    <a:lumMod val="20000"/>
                    <a:lumOff val="80000"/>
                  </a:schemeClr>
                </a:solidFill>
              </a:rPr>
            </a:br>
            <a:r>
              <a:rPr lang="en-US" sz="1200" dirty="0">
                <a:solidFill>
                  <a:schemeClr val="accent6">
                    <a:lumMod val="20000"/>
                    <a:lumOff val="80000"/>
                  </a:schemeClr>
                </a:solidFill>
              </a:rPr>
              <a:t>Yugan Sachithra       [E/21/099]</a:t>
            </a:r>
            <a:br>
              <a:rPr lang="en-US" sz="1200" dirty="0">
                <a:solidFill>
                  <a:schemeClr val="accent6">
                    <a:lumMod val="20000"/>
                    <a:lumOff val="80000"/>
                  </a:schemeClr>
                </a:solidFill>
              </a:rPr>
            </a:br>
            <a:r>
              <a:rPr lang="en-US" sz="1200" dirty="0">
                <a:solidFill>
                  <a:schemeClr val="accent6">
                    <a:lumMod val="20000"/>
                    <a:lumOff val="80000"/>
                  </a:schemeClr>
                </a:solidFill>
              </a:rPr>
              <a:t>Keshani Kaushalya   [E/21/218]</a:t>
            </a:r>
          </a:p>
        </p:txBody>
      </p:sp>
      <p:sp>
        <p:nvSpPr>
          <p:cNvPr id="17" name="TextBox 16">
            <a:extLst>
              <a:ext uri="{FF2B5EF4-FFF2-40B4-BE49-F238E27FC236}">
                <a16:creationId xmlns:a16="http://schemas.microsoft.com/office/drawing/2014/main" id="{3F6248B9-A913-ADFB-7AEC-D7129149DBA0}"/>
              </a:ext>
            </a:extLst>
          </p:cNvPr>
          <p:cNvSpPr txBox="1"/>
          <p:nvPr/>
        </p:nvSpPr>
        <p:spPr>
          <a:xfrm>
            <a:off x="6974873" y="4338090"/>
            <a:ext cx="2271486" cy="461665"/>
          </a:xfrm>
          <a:prstGeom prst="rect">
            <a:avLst/>
          </a:prstGeom>
          <a:noFill/>
        </p:spPr>
        <p:txBody>
          <a:bodyPr wrap="square" rtlCol="0">
            <a:spAutoFit/>
          </a:bodyPr>
          <a:lstStyle/>
          <a:p>
            <a:r>
              <a:rPr lang="en-US" sz="1200" b="1" u="sng" dirty="0">
                <a:solidFill>
                  <a:schemeClr val="accent6">
                    <a:lumMod val="20000"/>
                    <a:lumOff val="80000"/>
                  </a:schemeClr>
                </a:solidFill>
              </a:rPr>
              <a:t>Supervised by</a:t>
            </a:r>
          </a:p>
          <a:p>
            <a:r>
              <a:rPr lang="en-US" sz="1200" b="1" dirty="0">
                <a:solidFill>
                  <a:schemeClr val="accent6">
                    <a:lumMod val="20000"/>
                    <a:lumOff val="80000"/>
                  </a:schemeClr>
                </a:solidFill>
              </a:rPr>
              <a:t>Dr. Elan Sivakumar</a:t>
            </a:r>
          </a:p>
        </p:txBody>
      </p:sp>
      <p:pic>
        <p:nvPicPr>
          <p:cNvPr id="19" name="Picture 18">
            <a:extLst>
              <a:ext uri="{FF2B5EF4-FFF2-40B4-BE49-F238E27FC236}">
                <a16:creationId xmlns:a16="http://schemas.microsoft.com/office/drawing/2014/main" id="{9AF06CA8-698F-487E-A4C3-DB32E355028A}"/>
              </a:ext>
            </a:extLst>
          </p:cNvPr>
          <p:cNvPicPr>
            <a:picLocks noChangeAspect="1"/>
          </p:cNvPicPr>
          <p:nvPr/>
        </p:nvPicPr>
        <p:blipFill>
          <a:blip r:embed="rId6"/>
          <a:stretch>
            <a:fillRect/>
          </a:stretch>
        </p:blipFill>
        <p:spPr>
          <a:xfrm>
            <a:off x="-32004" y="-8094"/>
            <a:ext cx="4408542" cy="2462584"/>
          </a:xfrm>
          <a:prstGeom prst="rect">
            <a:avLst/>
          </a:prstGeom>
        </p:spPr>
      </p:pic>
      <p:pic>
        <p:nvPicPr>
          <p:cNvPr id="18" name="Picture 17">
            <a:extLst>
              <a:ext uri="{FF2B5EF4-FFF2-40B4-BE49-F238E27FC236}">
                <a16:creationId xmlns:a16="http://schemas.microsoft.com/office/drawing/2014/main" id="{8E85E8D2-37EB-2AE2-D532-DCE8A73F51BD}"/>
              </a:ext>
            </a:extLst>
          </p:cNvPr>
          <p:cNvPicPr>
            <a:picLocks noChangeAspect="1"/>
          </p:cNvPicPr>
          <p:nvPr/>
        </p:nvPicPr>
        <p:blipFill>
          <a:blip r:embed="rId7"/>
          <a:srcRect l="36560" t="83"/>
          <a:stretch>
            <a:fillRect/>
          </a:stretch>
        </p:blipFill>
        <p:spPr>
          <a:xfrm>
            <a:off x="-68275" y="2454491"/>
            <a:ext cx="4457817" cy="2690164"/>
          </a:xfrm>
          <a:prstGeom prst="rect">
            <a:avLst/>
          </a:prstGeom>
        </p:spPr>
      </p:pic>
    </p:spTree>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C5F2D"/>
          </a:solidFill>
          <a:ln w="12700">
            <a:solidFill>
              <a:srgbClr val="2C5F2D"/>
            </a:solidFill>
            <a:prstDash val="solid"/>
          </a:ln>
        </p:spPr>
        <p:txBody>
          <a:bodyPr/>
          <a:lstStyle/>
          <a:p>
            <a:endParaRPr lang="en-US"/>
          </a:p>
        </p:txBody>
      </p:sp>
      <p:sp>
        <p:nvSpPr>
          <p:cNvPr id="3" name="Text 1"/>
          <p:cNvSpPr/>
          <p:nvPr/>
        </p:nvSpPr>
        <p:spPr>
          <a:xfrm>
            <a:off x="365760" y="0"/>
            <a:ext cx="8229600" cy="777240"/>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TEA SHOOT BIOLOGY &amp; PLUCKING SCIENCE</a:t>
            </a:r>
            <a:endParaRPr lang="en-US" sz="2000" dirty="0"/>
          </a:p>
        </p:txBody>
      </p:sp>
      <p:sp>
        <p:nvSpPr>
          <p:cNvPr id="4" name="Text 2"/>
          <p:cNvSpPr/>
          <p:nvPr/>
        </p:nvSpPr>
        <p:spPr>
          <a:xfrm>
            <a:off x="8412480" y="0"/>
            <a:ext cx="548640" cy="777240"/>
          </a:xfrm>
          <a:prstGeom prst="rect">
            <a:avLst/>
          </a:prstGeom>
          <a:noFill/>
          <a:ln/>
        </p:spPr>
        <p:txBody>
          <a:bodyPr wrap="square" rtlCol="0" anchor="ctr"/>
          <a:lstStyle/>
          <a:p>
            <a:pPr marL="0" indent="0" algn="r">
              <a:buNone/>
            </a:pPr>
            <a:r>
              <a:rPr lang="en-US" sz="2000" b="1" dirty="0">
                <a:solidFill>
                  <a:srgbClr val="97BC62"/>
                </a:solidFill>
                <a:latin typeface="Calibri" pitchFamily="34" charset="0"/>
                <a:ea typeface="Calibri" pitchFamily="34" charset="-122"/>
                <a:cs typeface="Calibri" pitchFamily="34" charset="-120"/>
              </a:rPr>
              <a:t>01</a:t>
            </a:r>
            <a:endParaRPr lang="en-US" sz="2000" dirty="0"/>
          </a:p>
        </p:txBody>
      </p:sp>
      <p:sp>
        <p:nvSpPr>
          <p:cNvPr id="5" name="Text 3"/>
          <p:cNvSpPr/>
          <p:nvPr/>
        </p:nvSpPr>
        <p:spPr>
          <a:xfrm>
            <a:off x="228600" y="763792"/>
            <a:ext cx="8549640" cy="256032"/>
          </a:xfrm>
          <a:prstGeom prst="rect">
            <a:avLst/>
          </a:prstGeom>
          <a:noFill/>
          <a:ln/>
        </p:spPr>
        <p:txBody>
          <a:bodyPr wrap="square" rtlCol="0" anchor="ctr"/>
          <a:lstStyle/>
          <a:p>
            <a:pPr marL="285750" indent="-285750" algn="l">
              <a:buFont typeface="Wingdings" panose="05000000000000000000" pitchFamily="2" charset="2"/>
              <a:buChar char="q"/>
            </a:pPr>
            <a:r>
              <a:rPr lang="en-US" sz="1400" i="1" dirty="0">
                <a:solidFill>
                  <a:srgbClr val="3D5E3E"/>
                </a:solidFill>
                <a:latin typeface="Calibri" pitchFamily="34" charset="0"/>
                <a:ea typeface="Calibri" pitchFamily="34" charset="-122"/>
                <a:cs typeface="Calibri" pitchFamily="34" charset="-120"/>
              </a:rPr>
              <a:t>Understanding tea shoot anatomy is essential to designing a selective harvesting mechanism.</a:t>
            </a:r>
            <a:endParaRPr lang="en-US" sz="1400" dirty="0"/>
          </a:p>
        </p:txBody>
      </p:sp>
      <p:sp>
        <p:nvSpPr>
          <p:cNvPr id="6" name="Shape 4"/>
          <p:cNvSpPr/>
          <p:nvPr/>
        </p:nvSpPr>
        <p:spPr>
          <a:xfrm>
            <a:off x="228600" y="1115567"/>
            <a:ext cx="4572000" cy="3937339"/>
          </a:xfrm>
          <a:prstGeom prst="rect">
            <a:avLst/>
          </a:prstGeom>
          <a:solidFill>
            <a:srgbClr val="FFFFFF"/>
          </a:solidFill>
          <a:ln w="12700">
            <a:solidFill>
              <a:srgbClr val="DDDDDD"/>
            </a:solidFill>
            <a:prstDash val="solid"/>
          </a:ln>
          <a:effectLst>
            <a:outerShdw blurRad="63500" dist="25400" dir="8100000" algn="bl" rotWithShape="0">
              <a:srgbClr val="000000">
                <a:alpha val="12000"/>
              </a:srgbClr>
            </a:outerShdw>
          </a:effectLst>
        </p:spPr>
        <p:txBody>
          <a:bodyPr/>
          <a:lstStyle/>
          <a:p>
            <a:endParaRPr lang="en-US"/>
          </a:p>
        </p:txBody>
      </p:sp>
      <p:pic>
        <p:nvPicPr>
          <p:cNvPr id="7" name="Image 0" descr="preencoded.png"/>
          <p:cNvPicPr>
            <a:picLocks noChangeAspect="1"/>
          </p:cNvPicPr>
          <p:nvPr/>
        </p:nvPicPr>
        <p:blipFill>
          <a:blip r:embed="rId3"/>
          <a:srcRect/>
          <a:stretch/>
        </p:blipFill>
        <p:spPr>
          <a:xfrm>
            <a:off x="274320" y="1182436"/>
            <a:ext cx="4480560" cy="3795964"/>
          </a:xfrm>
          <a:prstGeom prst="rect">
            <a:avLst/>
          </a:prstGeom>
        </p:spPr>
      </p:pic>
      <p:sp>
        <p:nvSpPr>
          <p:cNvPr id="8" name="Shape 5"/>
          <p:cNvSpPr/>
          <p:nvPr/>
        </p:nvSpPr>
        <p:spPr>
          <a:xfrm>
            <a:off x="4914900" y="1046709"/>
            <a:ext cx="4000500" cy="1894986"/>
          </a:xfrm>
          <a:prstGeom prst="rect">
            <a:avLst/>
          </a:prstGeom>
          <a:solidFill>
            <a:srgbClr val="FFFFFF"/>
          </a:solidFill>
          <a:ln w="12700">
            <a:solidFill>
              <a:srgbClr val="DDDDDD"/>
            </a:solidFill>
            <a:prstDash val="solid"/>
          </a:ln>
          <a:effectLst>
            <a:outerShdw blurRad="50800" dist="12700" dir="8100000" algn="bl" rotWithShape="0">
              <a:srgbClr val="000000">
                <a:alpha val="10000"/>
              </a:srgbClr>
            </a:outerShdw>
          </a:effectLst>
        </p:spPr>
        <p:txBody>
          <a:bodyPr/>
          <a:lstStyle/>
          <a:p>
            <a:endParaRPr lang="en-US"/>
          </a:p>
        </p:txBody>
      </p:sp>
      <p:sp>
        <p:nvSpPr>
          <p:cNvPr id="9" name="Shape 6"/>
          <p:cNvSpPr/>
          <p:nvPr/>
        </p:nvSpPr>
        <p:spPr>
          <a:xfrm>
            <a:off x="4914900" y="1050084"/>
            <a:ext cx="4000500" cy="300370"/>
          </a:xfrm>
          <a:prstGeom prst="rect">
            <a:avLst/>
          </a:prstGeom>
          <a:solidFill>
            <a:srgbClr val="4A8B3F"/>
          </a:solidFill>
          <a:ln w="12700">
            <a:solidFill>
              <a:srgbClr val="4A8B3F"/>
            </a:solidFill>
            <a:prstDash val="solid"/>
          </a:ln>
        </p:spPr>
        <p:txBody>
          <a:bodyPr/>
          <a:lstStyle/>
          <a:p>
            <a:endParaRPr lang="en-US" dirty="0"/>
          </a:p>
        </p:txBody>
      </p:sp>
      <p:sp>
        <p:nvSpPr>
          <p:cNvPr id="10" name="Text 7"/>
          <p:cNvSpPr/>
          <p:nvPr/>
        </p:nvSpPr>
        <p:spPr>
          <a:xfrm>
            <a:off x="4937760" y="1043862"/>
            <a:ext cx="3931920" cy="300370"/>
          </a:xfrm>
          <a:prstGeom prst="rect">
            <a:avLst/>
          </a:prstGeom>
          <a:noFill/>
          <a:ln/>
        </p:spPr>
        <p:txBody>
          <a:bodyPr wrap="square"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  Shoot Growth Stages (a → e)</a:t>
            </a:r>
            <a:endParaRPr lang="en-US" sz="1400" dirty="0"/>
          </a:p>
        </p:txBody>
      </p:sp>
      <p:pic>
        <p:nvPicPr>
          <p:cNvPr id="11" name="Image 1" descr="preencoded.png"/>
          <p:cNvPicPr>
            <a:picLocks noChangeAspect="1"/>
          </p:cNvPicPr>
          <p:nvPr/>
        </p:nvPicPr>
        <p:blipFill>
          <a:blip r:embed="rId4"/>
          <a:srcRect l="2528" t="4569" r="1084" b="2353"/>
          <a:stretch>
            <a:fillRect/>
          </a:stretch>
        </p:blipFill>
        <p:spPr>
          <a:xfrm>
            <a:off x="5100407" y="1439652"/>
            <a:ext cx="2839952" cy="1439406"/>
          </a:xfrm>
          <a:prstGeom prst="rect">
            <a:avLst/>
          </a:prstGeom>
        </p:spPr>
      </p:pic>
      <p:sp>
        <p:nvSpPr>
          <p:cNvPr id="12" name="Shape 8"/>
          <p:cNvSpPr/>
          <p:nvPr/>
        </p:nvSpPr>
        <p:spPr>
          <a:xfrm>
            <a:off x="4914900" y="3163050"/>
            <a:ext cx="3977640" cy="1889856"/>
          </a:xfrm>
          <a:prstGeom prst="rect">
            <a:avLst/>
          </a:prstGeom>
          <a:solidFill>
            <a:srgbClr val="FFFFFF"/>
          </a:solidFill>
          <a:ln w="12700">
            <a:solidFill>
              <a:srgbClr val="DDDDDD"/>
            </a:solidFill>
            <a:prstDash val="solid"/>
          </a:ln>
          <a:effectLst>
            <a:outerShdw blurRad="50800" dist="12700" dir="8100000" algn="bl" rotWithShape="0">
              <a:srgbClr val="000000">
                <a:alpha val="10000"/>
              </a:srgbClr>
            </a:outerShdw>
          </a:effectLst>
        </p:spPr>
        <p:txBody>
          <a:bodyPr/>
          <a:lstStyle/>
          <a:p>
            <a:endParaRPr lang="en-US"/>
          </a:p>
        </p:txBody>
      </p:sp>
      <p:sp>
        <p:nvSpPr>
          <p:cNvPr id="13" name="Shape 9"/>
          <p:cNvSpPr/>
          <p:nvPr/>
        </p:nvSpPr>
        <p:spPr>
          <a:xfrm>
            <a:off x="4914900" y="2989314"/>
            <a:ext cx="4000500" cy="347472"/>
          </a:xfrm>
          <a:prstGeom prst="rect">
            <a:avLst/>
          </a:prstGeom>
          <a:solidFill>
            <a:srgbClr val="1A3A1B"/>
          </a:solidFill>
          <a:ln w="12700">
            <a:solidFill>
              <a:srgbClr val="1A3A1B"/>
            </a:solidFill>
            <a:prstDash val="solid"/>
          </a:ln>
        </p:spPr>
        <p:txBody>
          <a:bodyPr/>
          <a:lstStyle/>
          <a:p>
            <a:endParaRPr lang="en-US" dirty="0"/>
          </a:p>
        </p:txBody>
      </p:sp>
      <p:sp>
        <p:nvSpPr>
          <p:cNvPr id="14" name="Text 10"/>
          <p:cNvSpPr/>
          <p:nvPr/>
        </p:nvSpPr>
        <p:spPr>
          <a:xfrm>
            <a:off x="4937760" y="2980944"/>
            <a:ext cx="3931920" cy="355842"/>
          </a:xfrm>
          <a:prstGeom prst="rect">
            <a:avLst/>
          </a:prstGeom>
          <a:noFill/>
          <a:ln/>
        </p:spPr>
        <p:txBody>
          <a:bodyPr wrap="square" rtlCol="0" anchor="ctr"/>
          <a:lstStyle/>
          <a:p>
            <a:pPr marL="0" indent="0" algn="l">
              <a:buNone/>
            </a:pPr>
            <a:r>
              <a:rPr lang="en-US" sz="1400" b="1" dirty="0">
                <a:solidFill>
                  <a:srgbClr val="97BC62"/>
                </a:solidFill>
                <a:latin typeface="Calibri" pitchFamily="34" charset="0"/>
                <a:ea typeface="Calibri" pitchFamily="34" charset="-122"/>
                <a:cs typeface="Calibri" pitchFamily="34" charset="-120"/>
              </a:rPr>
              <a:t>🍃  Key Plucking Facts</a:t>
            </a:r>
            <a:endParaRPr lang="en-US" sz="1400" dirty="0"/>
          </a:p>
        </p:txBody>
      </p:sp>
      <p:sp>
        <p:nvSpPr>
          <p:cNvPr id="15" name="Text 11"/>
          <p:cNvSpPr/>
          <p:nvPr/>
        </p:nvSpPr>
        <p:spPr>
          <a:xfrm>
            <a:off x="4985173" y="3384404"/>
            <a:ext cx="3930227" cy="1593995"/>
          </a:xfrm>
          <a:prstGeom prst="rect">
            <a:avLst/>
          </a:prstGeom>
          <a:noFill/>
          <a:ln/>
        </p:spPr>
        <p:txBody>
          <a:bodyPr wrap="square" rtlCol="0" anchor="t"/>
          <a:lstStyle/>
          <a:p>
            <a:pPr marL="171450" indent="-171450" algn="l">
              <a:lnSpc>
                <a:spcPct val="130000"/>
              </a:lnSpc>
              <a:buFont typeface="Wingdings" panose="05000000000000000000" pitchFamily="2" charset="2"/>
              <a:buChar char="Ø"/>
            </a:pPr>
            <a:r>
              <a:rPr lang="en-US" sz="1200" dirty="0">
                <a:solidFill>
                  <a:srgbClr val="1C2B1D"/>
                </a:solidFill>
                <a:latin typeface="Calibri" pitchFamily="34" charset="0"/>
                <a:ea typeface="Calibri" pitchFamily="34" charset="-122"/>
                <a:cs typeface="Calibri" pitchFamily="34" charset="-120"/>
              </a:rPr>
              <a:t>• Pluckable shoot = Apical Bud + 2–3 tender leaves</a:t>
            </a:r>
            <a:endParaRPr lang="en-US" sz="1200" dirty="0"/>
          </a:p>
          <a:p>
            <a:pPr marL="171450" indent="-171450" algn="l">
              <a:lnSpc>
                <a:spcPct val="130000"/>
              </a:lnSpc>
              <a:buFont typeface="Wingdings" panose="05000000000000000000" pitchFamily="2" charset="2"/>
              <a:buChar char="Ø"/>
            </a:pPr>
            <a:r>
              <a:rPr lang="en-US" sz="1200" dirty="0">
                <a:solidFill>
                  <a:srgbClr val="1C2B1D"/>
                </a:solidFill>
                <a:latin typeface="Calibri" pitchFamily="34" charset="0"/>
                <a:ea typeface="Calibri" pitchFamily="34" charset="-122"/>
                <a:cs typeface="Calibri" pitchFamily="34" charset="-120"/>
              </a:rPr>
              <a:t>• Arimbu = immature shoot — must NOT be harvested</a:t>
            </a:r>
            <a:endParaRPr lang="en-US" sz="1200" dirty="0"/>
          </a:p>
          <a:p>
            <a:pPr marL="171450" indent="-171450" algn="l">
              <a:lnSpc>
                <a:spcPct val="130000"/>
              </a:lnSpc>
              <a:buFont typeface="Wingdings" panose="05000000000000000000" pitchFamily="2" charset="2"/>
              <a:buChar char="Ø"/>
            </a:pPr>
            <a:r>
              <a:rPr lang="en-US" sz="1200" dirty="0">
                <a:solidFill>
                  <a:srgbClr val="1C2B1D"/>
                </a:solidFill>
                <a:latin typeface="Calibri" pitchFamily="34" charset="0"/>
                <a:ea typeface="Calibri" pitchFamily="34" charset="-122"/>
                <a:cs typeface="Calibri" pitchFamily="34" charset="-120"/>
              </a:rPr>
              <a:t>• Banji = dormant bud — not ideal for plucking</a:t>
            </a:r>
            <a:endParaRPr lang="en-US" sz="1200" dirty="0"/>
          </a:p>
          <a:p>
            <a:pPr marL="171450" indent="-171450" algn="l">
              <a:lnSpc>
                <a:spcPct val="130000"/>
              </a:lnSpc>
              <a:buFont typeface="Wingdings" panose="05000000000000000000" pitchFamily="2" charset="2"/>
              <a:buChar char="Ø"/>
            </a:pPr>
            <a:r>
              <a:rPr lang="en-US" sz="1200" dirty="0">
                <a:solidFill>
                  <a:srgbClr val="1C2B1D"/>
                </a:solidFill>
                <a:latin typeface="Calibri" pitchFamily="34" charset="0"/>
                <a:ea typeface="Calibri" pitchFamily="34" charset="-122"/>
                <a:cs typeface="Calibri" pitchFamily="34" charset="-120"/>
              </a:rPr>
              <a:t>• Maintenance foliage must be preserved for photosynthesis</a:t>
            </a:r>
            <a:endParaRPr lang="en-US" sz="1200" dirty="0"/>
          </a:p>
          <a:p>
            <a:pPr marL="171450" indent="-171450" algn="l">
              <a:lnSpc>
                <a:spcPct val="130000"/>
              </a:lnSpc>
              <a:buFont typeface="Wingdings" panose="05000000000000000000" pitchFamily="2" charset="2"/>
              <a:buChar char="Ø"/>
            </a:pPr>
            <a:r>
              <a:rPr lang="en-US" sz="1200" dirty="0">
                <a:solidFill>
                  <a:srgbClr val="1C2B1D"/>
                </a:solidFill>
                <a:latin typeface="Calibri" pitchFamily="34" charset="0"/>
                <a:ea typeface="Calibri" pitchFamily="34" charset="-122"/>
                <a:cs typeface="Calibri" pitchFamily="34" charset="-120"/>
              </a:rPr>
              <a:t>• Fish leaf marks the lower boundary of plucking zone</a:t>
            </a:r>
            <a:endParaRPr lang="en-US" sz="1200" dirty="0"/>
          </a:p>
        </p:txBody>
      </p:sp>
      <p:sp>
        <p:nvSpPr>
          <p:cNvPr id="16" name="Arrow: Chevron 15">
            <a:extLst>
              <a:ext uri="{FF2B5EF4-FFF2-40B4-BE49-F238E27FC236}">
                <a16:creationId xmlns:a16="http://schemas.microsoft.com/office/drawing/2014/main" id="{8CB5D55B-762C-FEF3-23CC-A8B0A9A95DD7}"/>
              </a:ext>
            </a:extLst>
          </p:cNvPr>
          <p:cNvSpPr/>
          <p:nvPr/>
        </p:nvSpPr>
        <p:spPr>
          <a:xfrm rot="12683458">
            <a:off x="2196438" y="3022496"/>
            <a:ext cx="141729" cy="281108"/>
          </a:xfrm>
          <a:prstGeom prst="chevro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7" name="Picture 16">
            <a:extLst>
              <a:ext uri="{FF2B5EF4-FFF2-40B4-BE49-F238E27FC236}">
                <a16:creationId xmlns:a16="http://schemas.microsoft.com/office/drawing/2014/main" id="{95A98D40-E052-D368-32CA-70D73819C140}"/>
              </a:ext>
            </a:extLst>
          </p:cNvPr>
          <p:cNvPicPr>
            <a:picLocks noChangeAspect="1"/>
          </p:cNvPicPr>
          <p:nvPr/>
        </p:nvPicPr>
        <p:blipFill>
          <a:blip r:embed="rId5"/>
          <a:stretch>
            <a:fillRect/>
          </a:stretch>
        </p:blipFill>
        <p:spPr>
          <a:xfrm>
            <a:off x="2194738" y="3442541"/>
            <a:ext cx="231668" cy="304826"/>
          </a:xfrm>
          <a:prstGeom prst="rect">
            <a:avLst/>
          </a:prstGeom>
        </p:spPr>
      </p:pic>
      <p:pic>
        <p:nvPicPr>
          <p:cNvPr id="2054" name="Picture 6" descr="Markup Rulers Vector Measuring Scale Set Stock Vector (Royalty Free)  2266619151 | Shutterstock">
            <a:extLst>
              <a:ext uri="{FF2B5EF4-FFF2-40B4-BE49-F238E27FC236}">
                <a16:creationId xmlns:a16="http://schemas.microsoft.com/office/drawing/2014/main" id="{7501C613-5F13-0273-38BF-0A9BB2484FD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838" t="36492" r="38540" b="42750"/>
          <a:stretch>
            <a:fillRect/>
          </a:stretch>
        </p:blipFill>
        <p:spPr bwMode="auto">
          <a:xfrm rot="16200000">
            <a:off x="7624313" y="1865301"/>
            <a:ext cx="1520686" cy="5536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5EE"/>
        </a:solidFill>
        <a:effectLst/>
      </p:bgPr>
    </p:bg>
    <p:spTree>
      <p:nvGrpSpPr>
        <p:cNvPr id="1" name=""/>
        <p:cNvGrpSpPr/>
        <p:nvPr/>
      </p:nvGrpSpPr>
      <p:grpSpPr>
        <a:xfrm>
          <a:off x="0" y="0"/>
          <a:ext cx="0" cy="0"/>
          <a:chOff x="0" y="0"/>
          <a:chExt cx="0" cy="0"/>
        </a:xfrm>
      </p:grpSpPr>
      <p:sp>
        <p:nvSpPr>
          <p:cNvPr id="2" name="Shape 0"/>
          <p:cNvSpPr/>
          <p:nvPr/>
        </p:nvSpPr>
        <p:spPr>
          <a:xfrm>
            <a:off x="0" y="0"/>
            <a:ext cx="9144000" cy="638387"/>
          </a:xfrm>
          <a:prstGeom prst="rect">
            <a:avLst/>
          </a:prstGeom>
          <a:solidFill>
            <a:srgbClr val="2C5F2D"/>
          </a:solidFill>
          <a:ln w="12700">
            <a:solidFill>
              <a:srgbClr val="2C5F2D"/>
            </a:solidFill>
            <a:prstDash val="solid"/>
          </a:ln>
        </p:spPr>
        <p:txBody>
          <a:bodyPr/>
          <a:lstStyle/>
          <a:p>
            <a:endParaRPr lang="en-US"/>
          </a:p>
        </p:txBody>
      </p:sp>
      <p:sp>
        <p:nvSpPr>
          <p:cNvPr id="3" name="Text 1"/>
          <p:cNvSpPr/>
          <p:nvPr/>
        </p:nvSpPr>
        <p:spPr>
          <a:xfrm>
            <a:off x="365760" y="0"/>
            <a:ext cx="8229600" cy="638387"/>
          </a:xfrm>
          <a:prstGeom prst="rect">
            <a:avLst/>
          </a:prstGeom>
          <a:noFill/>
          <a:ln/>
        </p:spPr>
        <p:txBody>
          <a:bodyPr wrap="square"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THE PROBLEM &amp; AIM</a:t>
            </a:r>
            <a:endParaRPr lang="en-US" sz="2200" dirty="0"/>
          </a:p>
        </p:txBody>
      </p:sp>
      <p:sp>
        <p:nvSpPr>
          <p:cNvPr id="4" name="Text 2"/>
          <p:cNvSpPr/>
          <p:nvPr/>
        </p:nvSpPr>
        <p:spPr>
          <a:xfrm>
            <a:off x="8229600" y="0"/>
            <a:ext cx="731520" cy="777240"/>
          </a:xfrm>
          <a:prstGeom prst="rect">
            <a:avLst/>
          </a:prstGeom>
          <a:noFill/>
          <a:ln/>
        </p:spPr>
        <p:txBody>
          <a:bodyPr wrap="square" rtlCol="0" anchor="ctr"/>
          <a:lstStyle/>
          <a:p>
            <a:pPr marL="0" indent="0" algn="r">
              <a:buNone/>
            </a:pPr>
            <a:r>
              <a:rPr lang="en-US" sz="2200" b="1" dirty="0">
                <a:solidFill>
                  <a:srgbClr val="97BC62"/>
                </a:solidFill>
                <a:latin typeface="Calibri" pitchFamily="34" charset="0"/>
                <a:ea typeface="Calibri" pitchFamily="34" charset="-122"/>
                <a:cs typeface="Calibri" pitchFamily="34" charset="-120"/>
              </a:rPr>
              <a:t>02</a:t>
            </a:r>
            <a:endParaRPr lang="en-US" sz="2200" dirty="0"/>
          </a:p>
        </p:txBody>
      </p:sp>
      <p:sp>
        <p:nvSpPr>
          <p:cNvPr id="5" name="Shape 3"/>
          <p:cNvSpPr/>
          <p:nvPr/>
        </p:nvSpPr>
        <p:spPr>
          <a:xfrm>
            <a:off x="274320" y="757631"/>
            <a:ext cx="8595360" cy="685800"/>
          </a:xfrm>
          <a:prstGeom prst="rect">
            <a:avLst/>
          </a:prstGeom>
          <a:solidFill>
            <a:srgbClr val="2C5F2D"/>
          </a:solidFill>
          <a:ln w="12700">
            <a:solidFill>
              <a:srgbClr val="2C5F2D"/>
            </a:solidFill>
            <a:prstDash val="solid"/>
          </a:ln>
          <a:effectLst>
            <a:outerShdw blurRad="63500" dist="25400" dir="8100000" algn="bl" rotWithShape="0">
              <a:srgbClr val="000000">
                <a:alpha val="15000"/>
              </a:srgbClr>
            </a:outerShdw>
          </a:effectLst>
        </p:spPr>
        <p:txBody>
          <a:bodyPr/>
          <a:lstStyle/>
          <a:p>
            <a:endParaRPr lang="en-US"/>
          </a:p>
        </p:txBody>
      </p:sp>
      <p:sp>
        <p:nvSpPr>
          <p:cNvPr id="6" name="Text 4"/>
          <p:cNvSpPr/>
          <p:nvPr/>
        </p:nvSpPr>
        <p:spPr>
          <a:xfrm>
            <a:off x="274320" y="777240"/>
            <a:ext cx="8595360" cy="666191"/>
          </a:xfrm>
          <a:prstGeom prst="rect">
            <a:avLst/>
          </a:prstGeom>
          <a:noFill/>
          <a:ln/>
        </p:spPr>
        <p:txBody>
          <a:bodyPr wrap="square" lIns="152400" tIns="152400" rIns="152400" bIns="15240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  PROBLEM: Labour shortages and rising costs are forcing tea estates to adopt mechanical harvesting — but current machines damage leaves, lack selectivity, and fail on steep Sri Lankan terrain.</a:t>
            </a:r>
            <a:endParaRPr lang="en-US" sz="1400" dirty="0"/>
          </a:p>
        </p:txBody>
      </p:sp>
      <p:sp>
        <p:nvSpPr>
          <p:cNvPr id="7" name="Shape 5"/>
          <p:cNvSpPr/>
          <p:nvPr/>
        </p:nvSpPr>
        <p:spPr>
          <a:xfrm>
            <a:off x="274320" y="1617675"/>
            <a:ext cx="4155441" cy="2651760"/>
          </a:xfrm>
          <a:prstGeom prst="rect">
            <a:avLst/>
          </a:prstGeom>
          <a:solidFill>
            <a:srgbClr val="FFFFFF"/>
          </a:solidFill>
          <a:ln w="12700">
            <a:solidFill>
              <a:srgbClr val="DDDDDD"/>
            </a:solidFill>
            <a:prstDash val="solid"/>
          </a:ln>
          <a:effectLst>
            <a:outerShdw blurRad="50800" dist="12700" dir="8100000" algn="bl" rotWithShape="0">
              <a:srgbClr val="000000">
                <a:alpha val="10000"/>
              </a:srgbClr>
            </a:outerShdw>
          </a:effectLst>
        </p:spPr>
        <p:txBody>
          <a:bodyPr/>
          <a:lstStyle/>
          <a:p>
            <a:endParaRPr lang="en-US"/>
          </a:p>
        </p:txBody>
      </p:sp>
      <p:sp>
        <p:nvSpPr>
          <p:cNvPr id="8" name="Shape 6"/>
          <p:cNvSpPr/>
          <p:nvPr/>
        </p:nvSpPr>
        <p:spPr>
          <a:xfrm>
            <a:off x="283464" y="1603705"/>
            <a:ext cx="4146297" cy="384048"/>
          </a:xfrm>
          <a:prstGeom prst="rect">
            <a:avLst/>
          </a:prstGeom>
          <a:solidFill>
            <a:srgbClr val="C0392B"/>
          </a:solidFill>
          <a:ln w="12700">
            <a:solidFill>
              <a:srgbClr val="C0392B"/>
            </a:solidFill>
            <a:prstDash val="solid"/>
          </a:ln>
        </p:spPr>
        <p:txBody>
          <a:bodyPr/>
          <a:lstStyle/>
          <a:p>
            <a:endParaRPr lang="en-US" dirty="0"/>
          </a:p>
        </p:txBody>
      </p:sp>
      <p:sp>
        <p:nvSpPr>
          <p:cNvPr id="9" name="Text 7"/>
          <p:cNvSpPr/>
          <p:nvPr/>
        </p:nvSpPr>
        <p:spPr>
          <a:xfrm>
            <a:off x="274320" y="1642914"/>
            <a:ext cx="4114800" cy="321353"/>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WHY CURRENT MACHINES FAIL</a:t>
            </a:r>
            <a:endParaRPr lang="en-US" sz="1300" dirty="0"/>
          </a:p>
        </p:txBody>
      </p:sp>
      <p:pic>
        <p:nvPicPr>
          <p:cNvPr id="10" name="Image 0" descr="preencoded.png"/>
          <p:cNvPicPr>
            <a:picLocks noChangeAspect="1"/>
          </p:cNvPicPr>
          <p:nvPr/>
        </p:nvPicPr>
        <p:blipFill>
          <a:blip r:embed="rId3"/>
          <a:srcRect/>
          <a:stretch/>
        </p:blipFill>
        <p:spPr>
          <a:xfrm>
            <a:off x="337149" y="2143201"/>
            <a:ext cx="2125804" cy="1288085"/>
          </a:xfrm>
          <a:prstGeom prst="rect">
            <a:avLst/>
          </a:prstGeom>
        </p:spPr>
      </p:pic>
      <p:sp>
        <p:nvSpPr>
          <p:cNvPr id="11" name="Text 8"/>
          <p:cNvSpPr/>
          <p:nvPr/>
        </p:nvSpPr>
        <p:spPr>
          <a:xfrm>
            <a:off x="548640" y="3445256"/>
            <a:ext cx="3840480" cy="713232"/>
          </a:xfrm>
          <a:prstGeom prst="rect">
            <a:avLst/>
          </a:prstGeom>
          <a:noFill/>
          <a:ln/>
        </p:spPr>
        <p:txBody>
          <a:bodyPr wrap="square" rtlCol="0" anchor="t"/>
          <a:lstStyle/>
          <a:p>
            <a:pPr marL="171450" indent="-171450">
              <a:lnSpc>
                <a:spcPct val="125000"/>
              </a:lnSpc>
              <a:buFont typeface="Wingdings" panose="05000000000000000000" pitchFamily="2" charset="2"/>
              <a:buChar char="q"/>
            </a:pPr>
            <a:r>
              <a:rPr lang="en-US" sz="1200" dirty="0">
                <a:solidFill>
                  <a:srgbClr val="1C2B1D"/>
                </a:solidFill>
                <a:latin typeface="Calibri" pitchFamily="34" charset="0"/>
                <a:ea typeface="Calibri" pitchFamily="34" charset="-122"/>
                <a:cs typeface="Calibri" pitchFamily="34" charset="-120"/>
              </a:rPr>
              <a:t> Machines cannot detect precise plucking level</a:t>
            </a:r>
            <a:endParaRPr lang="en-US" sz="1200" dirty="0"/>
          </a:p>
          <a:p>
            <a:pPr marL="171450" indent="-171450">
              <a:lnSpc>
                <a:spcPct val="125000"/>
              </a:lnSpc>
              <a:buFont typeface="Wingdings" panose="05000000000000000000" pitchFamily="2" charset="2"/>
              <a:buChar char="q"/>
            </a:pPr>
            <a:r>
              <a:rPr lang="en-US" sz="1200" dirty="0">
                <a:solidFill>
                  <a:srgbClr val="1C2B1D"/>
                </a:solidFill>
                <a:latin typeface="Calibri" pitchFamily="34" charset="0"/>
                <a:ea typeface="Calibri" pitchFamily="34" charset="-122"/>
                <a:cs typeface="Calibri" pitchFamily="34" charset="-120"/>
              </a:rPr>
              <a:t> Cannot distinguish Arimbu / banji shoots</a:t>
            </a:r>
            <a:endParaRPr lang="en-US" sz="1200" dirty="0"/>
          </a:p>
          <a:p>
            <a:pPr marL="171450" indent="-171450">
              <a:lnSpc>
                <a:spcPct val="125000"/>
              </a:lnSpc>
              <a:buFont typeface="Wingdings" panose="05000000000000000000" pitchFamily="2" charset="2"/>
              <a:buChar char="q"/>
            </a:pPr>
            <a:r>
              <a:rPr lang="en-US" sz="1200" dirty="0">
                <a:solidFill>
                  <a:srgbClr val="1C2B1D"/>
                </a:solidFill>
                <a:latin typeface="Calibri" pitchFamily="34" charset="0"/>
                <a:ea typeface="Calibri" pitchFamily="34" charset="-122"/>
                <a:cs typeface="Calibri" pitchFamily="34" charset="-120"/>
              </a:rPr>
              <a:t> 35–40% yield loss; heavy leaf damage</a:t>
            </a:r>
            <a:endParaRPr lang="en-US" sz="1200" dirty="0"/>
          </a:p>
        </p:txBody>
      </p:sp>
      <p:sp>
        <p:nvSpPr>
          <p:cNvPr id="12" name="Shape 9"/>
          <p:cNvSpPr/>
          <p:nvPr/>
        </p:nvSpPr>
        <p:spPr>
          <a:xfrm>
            <a:off x="4754880" y="1617193"/>
            <a:ext cx="4114800" cy="2726207"/>
          </a:xfrm>
          <a:prstGeom prst="rect">
            <a:avLst/>
          </a:prstGeom>
          <a:solidFill>
            <a:srgbClr val="FFFFFF"/>
          </a:solidFill>
          <a:ln w="12700">
            <a:solidFill>
              <a:srgbClr val="DDDDDD"/>
            </a:solidFill>
            <a:prstDash val="solid"/>
          </a:ln>
          <a:effectLst>
            <a:outerShdw blurRad="50800" dist="12700" dir="8100000" algn="bl" rotWithShape="0">
              <a:srgbClr val="000000">
                <a:alpha val="10000"/>
              </a:srgbClr>
            </a:outerShdw>
          </a:effectLst>
        </p:spPr>
        <p:txBody>
          <a:bodyPr/>
          <a:lstStyle/>
          <a:p>
            <a:endParaRPr lang="en-US"/>
          </a:p>
        </p:txBody>
      </p:sp>
      <p:sp>
        <p:nvSpPr>
          <p:cNvPr id="13" name="Shape 10"/>
          <p:cNvSpPr/>
          <p:nvPr/>
        </p:nvSpPr>
        <p:spPr>
          <a:xfrm>
            <a:off x="4745736" y="1617193"/>
            <a:ext cx="4114800" cy="384048"/>
          </a:xfrm>
          <a:prstGeom prst="rect">
            <a:avLst/>
          </a:prstGeom>
          <a:solidFill>
            <a:srgbClr val="4A8B3F"/>
          </a:solidFill>
          <a:ln w="12700">
            <a:solidFill>
              <a:srgbClr val="4A8B3F"/>
            </a:solidFill>
            <a:prstDash val="solid"/>
          </a:ln>
        </p:spPr>
        <p:txBody>
          <a:bodyPr/>
          <a:lstStyle/>
          <a:p>
            <a:endParaRPr lang="en-US"/>
          </a:p>
        </p:txBody>
      </p:sp>
      <p:sp>
        <p:nvSpPr>
          <p:cNvPr id="14" name="Text 11"/>
          <p:cNvSpPr/>
          <p:nvPr/>
        </p:nvSpPr>
        <p:spPr>
          <a:xfrm>
            <a:off x="4754880" y="1691640"/>
            <a:ext cx="4114800" cy="272627"/>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PROPOSED APPROACH</a:t>
            </a:r>
            <a:endParaRPr lang="en-US" sz="1300" dirty="0"/>
          </a:p>
        </p:txBody>
      </p:sp>
      <p:sp>
        <p:nvSpPr>
          <p:cNvPr id="15" name="Text 12"/>
          <p:cNvSpPr/>
          <p:nvPr/>
        </p:nvSpPr>
        <p:spPr>
          <a:xfrm>
            <a:off x="4846320" y="1964267"/>
            <a:ext cx="4023360" cy="2379133"/>
          </a:xfrm>
          <a:prstGeom prst="rect">
            <a:avLst/>
          </a:prstGeom>
          <a:noFill/>
          <a:ln/>
        </p:spPr>
        <p:txBody>
          <a:bodyPr wrap="square" rtlCol="0" anchor="t"/>
          <a:lstStyle/>
          <a:p>
            <a:pPr marL="0" indent="0">
              <a:lnSpc>
                <a:spcPct val="200000"/>
              </a:lnSpc>
              <a:buNone/>
            </a:pPr>
            <a:r>
              <a:rPr lang="en-US" sz="1200" dirty="0">
                <a:solidFill>
                  <a:srgbClr val="1C2B1D"/>
                </a:solidFill>
                <a:latin typeface="Calibri" pitchFamily="34" charset="0"/>
                <a:ea typeface="Calibri" pitchFamily="34" charset="-122"/>
                <a:cs typeface="Calibri" pitchFamily="34" charset="-120"/>
              </a:rPr>
              <a:t> Selective harvesting — targets only pluckable shoots</a:t>
            </a:r>
            <a:endParaRPr lang="en-US" sz="1200" dirty="0"/>
          </a:p>
          <a:p>
            <a:pPr marL="0" indent="0">
              <a:lnSpc>
                <a:spcPct val="200000"/>
              </a:lnSpc>
              <a:buNone/>
            </a:pPr>
            <a:r>
              <a:rPr lang="en-US" sz="1200" dirty="0">
                <a:solidFill>
                  <a:srgbClr val="1C2B1D"/>
                </a:solidFill>
                <a:latin typeface="Calibri" pitchFamily="34" charset="0"/>
                <a:ea typeface="Calibri" pitchFamily="34" charset="-122"/>
                <a:cs typeface="Calibri" pitchFamily="34" charset="-120"/>
              </a:rPr>
              <a:t> Evaluates stem rigidity, bending angles &amp; node count</a:t>
            </a:r>
            <a:endParaRPr lang="en-US" sz="1200" dirty="0"/>
          </a:p>
          <a:p>
            <a:pPr marL="0" indent="0">
              <a:lnSpc>
                <a:spcPct val="200000"/>
              </a:lnSpc>
              <a:buNone/>
            </a:pPr>
            <a:r>
              <a:rPr lang="en-US" sz="1200" dirty="0">
                <a:solidFill>
                  <a:srgbClr val="1C2B1D"/>
                </a:solidFill>
                <a:latin typeface="Calibri" pitchFamily="34" charset="0"/>
                <a:ea typeface="Calibri" pitchFamily="34" charset="-122"/>
                <a:cs typeface="Calibri" pitchFamily="34" charset="-120"/>
              </a:rPr>
              <a:t> Computer vision and sensors to detect buds in real time</a:t>
            </a:r>
            <a:endParaRPr lang="en-US" sz="1200" dirty="0"/>
          </a:p>
          <a:p>
            <a:pPr marL="0" indent="0">
              <a:lnSpc>
                <a:spcPct val="200000"/>
              </a:lnSpc>
              <a:buNone/>
            </a:pPr>
            <a:r>
              <a:rPr lang="en-US" sz="1200" dirty="0">
                <a:solidFill>
                  <a:srgbClr val="1C2B1D"/>
                </a:solidFill>
                <a:latin typeface="Calibri" pitchFamily="34" charset="0"/>
                <a:ea typeface="Calibri" pitchFamily="34" charset="-122"/>
                <a:cs typeface="Calibri" pitchFamily="34" charset="-120"/>
              </a:rPr>
              <a:t> Adaptable cutting height for uneven terrain</a:t>
            </a:r>
            <a:endParaRPr lang="en-US" sz="1200" dirty="0"/>
          </a:p>
          <a:p>
            <a:pPr marL="0" indent="0">
              <a:lnSpc>
                <a:spcPct val="200000"/>
              </a:lnSpc>
              <a:buNone/>
            </a:pPr>
            <a:r>
              <a:rPr lang="en-US" sz="1200" dirty="0">
                <a:solidFill>
                  <a:srgbClr val="1C2B1D"/>
                </a:solidFill>
                <a:latin typeface="Calibri" pitchFamily="34" charset="0"/>
                <a:ea typeface="Calibri" pitchFamily="34" charset="-122"/>
                <a:cs typeface="Calibri" pitchFamily="34" charset="-120"/>
              </a:rPr>
              <a:t> Reduced leaf damage &amp; improved tea quality</a:t>
            </a:r>
            <a:endParaRPr lang="en-US" sz="1200" dirty="0"/>
          </a:p>
          <a:p>
            <a:pPr marL="0" indent="0">
              <a:lnSpc>
                <a:spcPct val="200000"/>
              </a:lnSpc>
              <a:buNone/>
            </a:pPr>
            <a:r>
              <a:rPr lang="en-US" sz="1200" dirty="0">
                <a:solidFill>
                  <a:srgbClr val="1C2B1D"/>
                </a:solidFill>
                <a:latin typeface="Calibri" pitchFamily="34" charset="0"/>
                <a:ea typeface="Calibri" pitchFamily="34" charset="-122"/>
                <a:cs typeface="Calibri" pitchFamily="34" charset="-120"/>
              </a:rPr>
              <a:t> Data-driven design validated through FEA &amp; simulation</a:t>
            </a:r>
            <a:endParaRPr lang="en-US" sz="1200" dirty="0"/>
          </a:p>
        </p:txBody>
      </p:sp>
      <p:sp>
        <p:nvSpPr>
          <p:cNvPr id="16" name="Shape 13"/>
          <p:cNvSpPr/>
          <p:nvPr/>
        </p:nvSpPr>
        <p:spPr>
          <a:xfrm>
            <a:off x="4322573" y="2468880"/>
            <a:ext cx="548640" cy="548640"/>
          </a:xfrm>
          <a:prstGeom prst="ellipse">
            <a:avLst/>
          </a:prstGeom>
          <a:solidFill>
            <a:srgbClr val="D4A017"/>
          </a:solidFill>
          <a:ln w="12700">
            <a:solidFill>
              <a:srgbClr val="D4A017"/>
            </a:solidFill>
            <a:prstDash val="solid"/>
          </a:ln>
        </p:spPr>
        <p:txBody>
          <a:bodyPr/>
          <a:lstStyle/>
          <a:p>
            <a:endParaRPr lang="en-US"/>
          </a:p>
        </p:txBody>
      </p:sp>
      <p:sp>
        <p:nvSpPr>
          <p:cNvPr id="17" name="Text 14"/>
          <p:cNvSpPr/>
          <p:nvPr/>
        </p:nvSpPr>
        <p:spPr>
          <a:xfrm>
            <a:off x="4297680" y="2468880"/>
            <a:ext cx="54864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VS</a:t>
            </a:r>
            <a:endParaRPr lang="en-US" sz="1200" dirty="0"/>
          </a:p>
        </p:txBody>
      </p:sp>
      <p:sp>
        <p:nvSpPr>
          <p:cNvPr id="18" name="Shape 15"/>
          <p:cNvSpPr/>
          <p:nvPr/>
        </p:nvSpPr>
        <p:spPr>
          <a:xfrm>
            <a:off x="274320" y="4434840"/>
            <a:ext cx="8595360" cy="502920"/>
          </a:xfrm>
          <a:prstGeom prst="rect">
            <a:avLst/>
          </a:prstGeom>
          <a:solidFill>
            <a:srgbClr val="1A3A1B"/>
          </a:solidFill>
          <a:ln w="12700">
            <a:solidFill>
              <a:srgbClr val="1A3A1B"/>
            </a:solidFill>
            <a:prstDash val="solid"/>
          </a:ln>
        </p:spPr>
        <p:txBody>
          <a:bodyPr/>
          <a:lstStyle/>
          <a:p>
            <a:endParaRPr lang="en-US"/>
          </a:p>
        </p:txBody>
      </p:sp>
      <p:sp>
        <p:nvSpPr>
          <p:cNvPr id="19" name="Text 16"/>
          <p:cNvSpPr/>
          <p:nvPr/>
        </p:nvSpPr>
        <p:spPr>
          <a:xfrm>
            <a:off x="274320" y="4434840"/>
            <a:ext cx="8595360" cy="502920"/>
          </a:xfrm>
          <a:prstGeom prst="rect">
            <a:avLst/>
          </a:prstGeom>
          <a:noFill/>
          <a:ln/>
        </p:spPr>
        <p:txBody>
          <a:bodyPr wrap="square" lIns="127000" tIns="127000" rIns="127000" bIns="12700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  AIM: Conduct a systematic comparative analysis of tea plucking harvesters and propose practical design improvements for Sri Lankan plantation conditions.</a:t>
            </a:r>
            <a:endParaRPr lang="en-US" sz="1400" dirty="0"/>
          </a:p>
        </p:txBody>
      </p:sp>
      <p:pic>
        <p:nvPicPr>
          <p:cNvPr id="21" name="Picture 20">
            <a:extLst>
              <a:ext uri="{FF2B5EF4-FFF2-40B4-BE49-F238E27FC236}">
                <a16:creationId xmlns:a16="http://schemas.microsoft.com/office/drawing/2014/main" id="{50076D7C-3C34-C951-09B5-8FC03F5109FF}"/>
              </a:ext>
            </a:extLst>
          </p:cNvPr>
          <p:cNvPicPr>
            <a:picLocks noChangeAspect="1"/>
          </p:cNvPicPr>
          <p:nvPr/>
        </p:nvPicPr>
        <p:blipFill>
          <a:blip r:embed="rId4"/>
          <a:stretch>
            <a:fillRect/>
          </a:stretch>
        </p:blipFill>
        <p:spPr>
          <a:xfrm flipH="1">
            <a:off x="2551853" y="2143201"/>
            <a:ext cx="1761576" cy="1288085"/>
          </a:xfrm>
          <a:prstGeom prst="rect">
            <a:avLst/>
          </a:prstGeom>
        </p:spPr>
      </p:pic>
      <p:sp>
        <p:nvSpPr>
          <p:cNvPr id="22" name="Arrow: Down 21">
            <a:extLst>
              <a:ext uri="{FF2B5EF4-FFF2-40B4-BE49-F238E27FC236}">
                <a16:creationId xmlns:a16="http://schemas.microsoft.com/office/drawing/2014/main" id="{769254E9-8722-38E3-1ED0-3CBE39141D7B}"/>
              </a:ext>
            </a:extLst>
          </p:cNvPr>
          <p:cNvSpPr/>
          <p:nvPr/>
        </p:nvSpPr>
        <p:spPr>
          <a:xfrm>
            <a:off x="6648873" y="2348315"/>
            <a:ext cx="76200" cy="157480"/>
          </a:xfrm>
          <a:prstGeom prst="downArrow">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 name="Arrow: Down 22">
            <a:extLst>
              <a:ext uri="{FF2B5EF4-FFF2-40B4-BE49-F238E27FC236}">
                <a16:creationId xmlns:a16="http://schemas.microsoft.com/office/drawing/2014/main" id="{17FA19BD-5CFB-A0B3-F8C8-04237B3399B7}"/>
              </a:ext>
            </a:extLst>
          </p:cNvPr>
          <p:cNvSpPr/>
          <p:nvPr/>
        </p:nvSpPr>
        <p:spPr>
          <a:xfrm>
            <a:off x="6648873" y="2715446"/>
            <a:ext cx="76200" cy="157480"/>
          </a:xfrm>
          <a:prstGeom prst="downArrow">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Arrow: Down 23">
            <a:extLst>
              <a:ext uri="{FF2B5EF4-FFF2-40B4-BE49-F238E27FC236}">
                <a16:creationId xmlns:a16="http://schemas.microsoft.com/office/drawing/2014/main" id="{367570CA-B4D1-B21A-17C4-D8380376CC2F}"/>
              </a:ext>
            </a:extLst>
          </p:cNvPr>
          <p:cNvSpPr/>
          <p:nvPr/>
        </p:nvSpPr>
        <p:spPr>
          <a:xfrm>
            <a:off x="6642946" y="3075093"/>
            <a:ext cx="76200" cy="157480"/>
          </a:xfrm>
          <a:prstGeom prst="downArrow">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5" name="Arrow: Down 24">
            <a:extLst>
              <a:ext uri="{FF2B5EF4-FFF2-40B4-BE49-F238E27FC236}">
                <a16:creationId xmlns:a16="http://schemas.microsoft.com/office/drawing/2014/main" id="{876D4DAC-63A4-4562-24C2-25177BD4D2ED}"/>
              </a:ext>
            </a:extLst>
          </p:cNvPr>
          <p:cNvSpPr/>
          <p:nvPr/>
        </p:nvSpPr>
        <p:spPr>
          <a:xfrm>
            <a:off x="6648873" y="3457041"/>
            <a:ext cx="76200" cy="157480"/>
          </a:xfrm>
          <a:prstGeom prst="downArrow">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 name="Arrow: Down 25">
            <a:extLst>
              <a:ext uri="{FF2B5EF4-FFF2-40B4-BE49-F238E27FC236}">
                <a16:creationId xmlns:a16="http://schemas.microsoft.com/office/drawing/2014/main" id="{16AEDCC0-1177-3FEF-BF4A-E8510AC199AB}"/>
              </a:ext>
            </a:extLst>
          </p:cNvPr>
          <p:cNvSpPr/>
          <p:nvPr/>
        </p:nvSpPr>
        <p:spPr>
          <a:xfrm>
            <a:off x="6639559" y="3836872"/>
            <a:ext cx="76200" cy="157480"/>
          </a:xfrm>
          <a:prstGeom prst="downArrow">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E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2187"/>
          </a:xfrm>
          <a:prstGeom prst="rect">
            <a:avLst/>
          </a:prstGeom>
          <a:solidFill>
            <a:srgbClr val="2C5F2D"/>
          </a:solidFill>
          <a:ln w="12700">
            <a:solidFill>
              <a:srgbClr val="2C5F2D"/>
            </a:solidFill>
            <a:prstDash val="solid"/>
          </a:ln>
        </p:spPr>
        <p:txBody>
          <a:bodyPr/>
          <a:lstStyle/>
          <a:p>
            <a:endParaRPr lang="en-US"/>
          </a:p>
        </p:txBody>
      </p:sp>
      <p:sp>
        <p:nvSpPr>
          <p:cNvPr id="3" name="Text 1"/>
          <p:cNvSpPr/>
          <p:nvPr/>
        </p:nvSpPr>
        <p:spPr>
          <a:xfrm>
            <a:off x="243840" y="1"/>
            <a:ext cx="8351520" cy="50292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COMPARATIVE ANALYSIS OF TEA PLUCKING MACHINES</a:t>
            </a:r>
            <a:endParaRPr lang="en-US" sz="1800" dirty="0"/>
          </a:p>
        </p:txBody>
      </p:sp>
      <p:sp>
        <p:nvSpPr>
          <p:cNvPr id="4" name="Text 2"/>
          <p:cNvSpPr/>
          <p:nvPr/>
        </p:nvSpPr>
        <p:spPr>
          <a:xfrm>
            <a:off x="8412480" y="0"/>
            <a:ext cx="548640" cy="595446"/>
          </a:xfrm>
          <a:prstGeom prst="rect">
            <a:avLst/>
          </a:prstGeom>
          <a:noFill/>
          <a:ln/>
        </p:spPr>
        <p:txBody>
          <a:bodyPr wrap="square" rtlCol="0" anchor="ctr"/>
          <a:lstStyle/>
          <a:p>
            <a:pPr marL="0" indent="0" algn="r">
              <a:buNone/>
            </a:pPr>
            <a:r>
              <a:rPr lang="en-US" sz="2000" b="1" dirty="0">
                <a:solidFill>
                  <a:srgbClr val="97BC62"/>
                </a:solidFill>
                <a:latin typeface="Calibri" pitchFamily="34" charset="0"/>
                <a:ea typeface="Calibri" pitchFamily="34" charset="-122"/>
                <a:cs typeface="Calibri" pitchFamily="34" charset="-120"/>
              </a:rPr>
              <a:t>03</a:t>
            </a:r>
            <a:endParaRPr lang="en-US" sz="2000" dirty="0"/>
          </a:p>
        </p:txBody>
      </p:sp>
      <p:sp>
        <p:nvSpPr>
          <p:cNvPr id="5" name="Text 3"/>
          <p:cNvSpPr/>
          <p:nvPr/>
        </p:nvSpPr>
        <p:spPr>
          <a:xfrm>
            <a:off x="182880" y="595446"/>
            <a:ext cx="8412480" cy="245598"/>
          </a:xfrm>
          <a:prstGeom prst="rect">
            <a:avLst/>
          </a:prstGeom>
          <a:noFill/>
          <a:ln/>
        </p:spPr>
        <p:txBody>
          <a:bodyPr wrap="square" rtlCol="0" anchor="ctr"/>
          <a:lstStyle/>
          <a:p>
            <a:pPr marL="285750" indent="-285750" algn="l">
              <a:buFont typeface="Wingdings" panose="05000000000000000000" pitchFamily="2" charset="2"/>
              <a:buChar char="q"/>
            </a:pPr>
            <a:r>
              <a:rPr lang="en-US" sz="1400" i="1" dirty="0">
                <a:latin typeface="Calibri" pitchFamily="34" charset="0"/>
                <a:ea typeface="Calibri" pitchFamily="34" charset="-122"/>
                <a:cs typeface="Calibri" pitchFamily="34" charset="-120"/>
              </a:rPr>
              <a:t>Field study informed by Tea Research Institute of Sri Lanka (TRI), Rathnapura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2265273840"/>
              </p:ext>
            </p:extLst>
          </p:nvPr>
        </p:nvGraphicFramePr>
        <p:xfrm>
          <a:off x="216745" y="841044"/>
          <a:ext cx="8710509" cy="3211304"/>
        </p:xfrm>
        <a:graphic>
          <a:graphicData uri="http://schemas.openxmlformats.org/drawingml/2006/table">
            <a:tbl>
              <a:tblPr/>
              <a:tblGrid>
                <a:gridCol w="1406384">
                  <a:extLst>
                    <a:ext uri="{9D8B030D-6E8A-4147-A177-3AD203B41FA5}">
                      <a16:colId xmlns:a16="http://schemas.microsoft.com/office/drawing/2014/main" val="20000"/>
                    </a:ext>
                  </a:extLst>
                </a:gridCol>
                <a:gridCol w="1460825">
                  <a:extLst>
                    <a:ext uri="{9D8B030D-6E8A-4147-A177-3AD203B41FA5}">
                      <a16:colId xmlns:a16="http://schemas.microsoft.com/office/drawing/2014/main" val="20001"/>
                    </a:ext>
                  </a:extLst>
                </a:gridCol>
                <a:gridCol w="1460825">
                  <a:extLst>
                    <a:ext uri="{9D8B030D-6E8A-4147-A177-3AD203B41FA5}">
                      <a16:colId xmlns:a16="http://schemas.microsoft.com/office/drawing/2014/main" val="20002"/>
                    </a:ext>
                  </a:extLst>
                </a:gridCol>
                <a:gridCol w="1460825">
                  <a:extLst>
                    <a:ext uri="{9D8B030D-6E8A-4147-A177-3AD203B41FA5}">
                      <a16:colId xmlns:a16="http://schemas.microsoft.com/office/drawing/2014/main" val="20003"/>
                    </a:ext>
                  </a:extLst>
                </a:gridCol>
                <a:gridCol w="1460825">
                  <a:extLst>
                    <a:ext uri="{9D8B030D-6E8A-4147-A177-3AD203B41FA5}">
                      <a16:colId xmlns:a16="http://schemas.microsoft.com/office/drawing/2014/main" val="20004"/>
                    </a:ext>
                  </a:extLst>
                </a:gridCol>
                <a:gridCol w="1460825">
                  <a:extLst>
                    <a:ext uri="{9D8B030D-6E8A-4147-A177-3AD203B41FA5}">
                      <a16:colId xmlns:a16="http://schemas.microsoft.com/office/drawing/2014/main" val="20005"/>
                    </a:ext>
                  </a:extLst>
                </a:gridCol>
              </a:tblGrid>
              <a:tr h="29186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Kawasaki </a:t>
                      </a:r>
                      <a:r>
                        <a:rPr lang="en-US" sz="1200" b="1" dirty="0">
                          <a:solidFill>
                            <a:schemeClr val="bg1"/>
                          </a:solidFill>
                        </a:rPr>
                        <a:t>Petrol Operated Harvester</a:t>
                      </a:r>
                      <a:endParaRPr lang="en-US" sz="1200" b="1" dirty="0">
                        <a:solidFill>
                          <a:schemeClr val="bg1"/>
                        </a:solidFill>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Kawasaki Impeller</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marL="0" indent="0" algn="ctr">
                        <a:buNone/>
                      </a:pPr>
                      <a:r>
                        <a:rPr lang="en-US" sz="1200" b="1" dirty="0">
                          <a:solidFill>
                            <a:schemeClr val="bg1"/>
                          </a:solidFill>
                        </a:rPr>
                        <a:t>Battery Harvester</a:t>
                      </a:r>
                      <a:endParaRPr lang="en-US" sz="1200" b="1" dirty="0">
                        <a:solidFill>
                          <a:schemeClr val="bg1"/>
                        </a:solidFill>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TRI Shear Plucker</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Static Teeth</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45626">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Power Source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Petrol</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Battery ✅</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Battery ✅</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Human</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Battery ✅</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extLst>
                  <a:ext uri="{0D108BD9-81ED-4DB2-BD59-A6C34878D82A}">
                    <a16:rowId xmlns:a16="http://schemas.microsoft.com/office/drawing/2014/main" val="10001"/>
                  </a:ext>
                </a:extLst>
              </a:tr>
              <a:tr h="422431">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Daily Output</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0.7–1.0 ac/day</a:t>
                      </a:r>
                      <a:endParaRPr lang="en-US" sz="1200" dirty="0">
                        <a:latin typeface="Calibri" charset="0"/>
                        <a:ea typeface="Calibri" charset="0"/>
                        <a:cs typeface="Calibri" charset="0"/>
                      </a:endParaRPr>
                    </a:p>
                    <a:p>
                      <a:pPr marL="0" indent="0" algn="ctr">
                        <a:buNone/>
                      </a:pPr>
                      <a:r>
                        <a:rPr lang="en-US" sz="1200" dirty="0">
                          <a:solidFill>
                            <a:srgbClr val="000000"/>
                          </a:solidFill>
                          <a:latin typeface="Calibri" pitchFamily="34" charset="0"/>
                          <a:ea typeface="Calibri" pitchFamily="34" charset="-122"/>
                          <a:cs typeface="Calibri" pitchFamily="34" charset="-120"/>
                        </a:rPr>
                        <a:t>(15× faster)</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&lt; NV60H</a:t>
                      </a:r>
                      <a:endParaRPr lang="en-US" sz="1200" dirty="0">
                        <a:latin typeface="Calibri" charset="0"/>
                        <a:ea typeface="Calibri" charset="0"/>
                        <a:cs typeface="Calibri" charset="0"/>
                      </a:endParaRPr>
                    </a:p>
                    <a:p>
                      <a:pPr marL="0" indent="0" algn="ctr">
                        <a:buNone/>
                      </a:pPr>
                      <a:r>
                        <a:rPr lang="en-US" sz="1200" dirty="0">
                          <a:solidFill>
                            <a:srgbClr val="000000"/>
                          </a:solidFill>
                          <a:latin typeface="Calibri" pitchFamily="34" charset="0"/>
                          <a:ea typeface="Calibri" pitchFamily="34" charset="-122"/>
                          <a:cs typeface="Calibri" pitchFamily="34" charset="-120"/>
                        </a:rPr>
                        <a:t>(10× faster)</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kg/hr</a:t>
                      </a:r>
                      <a:endParaRPr lang="en-US" sz="1200" dirty="0">
                        <a:latin typeface="Calibri" charset="0"/>
                        <a:ea typeface="Calibri" charset="0"/>
                        <a:cs typeface="Calibri" charset="0"/>
                      </a:endParaRPr>
                    </a:p>
                    <a:p>
                      <a:pPr marL="0" indent="0" algn="ctr">
                        <a:buNone/>
                      </a:pPr>
                      <a:r>
                        <a:rPr lang="en-US" sz="1200" dirty="0">
                          <a:solidFill>
                            <a:srgbClr val="000000"/>
                          </a:solidFill>
                          <a:latin typeface="Calibri" pitchFamily="34" charset="0"/>
                          <a:ea typeface="Calibri" pitchFamily="34" charset="-122"/>
                          <a:cs typeface="Calibri" pitchFamily="34" charset="-120"/>
                        </a:rPr>
                        <a:t>(similar speed)</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4.3 kg/hr</a:t>
                      </a:r>
                      <a:endParaRPr lang="en-US" sz="1200" dirty="0">
                        <a:latin typeface="Calibri" charset="0"/>
                        <a:ea typeface="Calibri" charset="0"/>
                        <a:cs typeface="Calibri" charset="0"/>
                      </a:endParaRPr>
                    </a:p>
                    <a:p>
                      <a:pPr marL="0" indent="0" algn="ctr">
                        <a:buNone/>
                      </a:pPr>
                      <a:r>
                        <a:rPr lang="en-US" sz="1200" dirty="0">
                          <a:solidFill>
                            <a:srgbClr val="000000"/>
                          </a:solidFill>
                          <a:latin typeface="Calibri" pitchFamily="34" charset="0"/>
                          <a:ea typeface="Calibri" pitchFamily="34" charset="-122"/>
                          <a:cs typeface="Calibri" pitchFamily="34" charset="-120"/>
                        </a:rPr>
                        <a:t>(2× faster)</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Very low</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extLst>
                  <a:ext uri="{0D108BD9-81ED-4DB2-BD59-A6C34878D82A}">
                    <a16:rowId xmlns:a16="http://schemas.microsoft.com/office/drawing/2014/main" val="10002"/>
                  </a:ext>
                </a:extLst>
              </a:tr>
              <a:tr h="422431">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Leaf Quality</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Poor — many</a:t>
                      </a:r>
                      <a:endParaRPr lang="en-US" sz="1200" dirty="0">
                        <a:latin typeface="Calibri" charset="0"/>
                        <a:ea typeface="Calibri" charset="0"/>
                        <a:cs typeface="Calibri" charset="0"/>
                      </a:endParaRPr>
                    </a:p>
                    <a:p>
                      <a:pPr marL="0" indent="0" algn="ctr">
                        <a:buNone/>
                      </a:pPr>
                      <a:r>
                        <a:rPr lang="en-US" sz="1200" dirty="0">
                          <a:solidFill>
                            <a:srgbClr val="000000"/>
                          </a:solidFill>
                          <a:latin typeface="Calibri" pitchFamily="34" charset="0"/>
                          <a:ea typeface="Calibri" pitchFamily="34" charset="-122"/>
                          <a:cs typeface="Calibri" pitchFamily="34" charset="-120"/>
                        </a:rPr>
                        <a:t>broken leaves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Poor — fans</a:t>
                      </a:r>
                      <a:endParaRPr lang="en-US" sz="1200" dirty="0">
                        <a:latin typeface="Calibri" charset="0"/>
                        <a:ea typeface="Calibri" charset="0"/>
                        <a:cs typeface="Calibri" charset="0"/>
                      </a:endParaRPr>
                    </a:p>
                    <a:p>
                      <a:pPr marL="0" indent="0" algn="ctr">
                        <a:buNone/>
                      </a:pPr>
                      <a:r>
                        <a:rPr lang="en-US" sz="1200" dirty="0">
                          <a:solidFill>
                            <a:srgbClr val="000000"/>
                          </a:solidFill>
                          <a:latin typeface="Calibri" pitchFamily="34" charset="0"/>
                          <a:ea typeface="Calibri" pitchFamily="34" charset="-122"/>
                          <a:cs typeface="Calibri" pitchFamily="34" charset="-120"/>
                        </a:rPr>
                        <a:t>bruise leaves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Moderate</a:t>
                      </a:r>
                      <a:endParaRPr lang="en-US" sz="1200" dirty="0">
                        <a:latin typeface="Calibri" charset="0"/>
                        <a:ea typeface="Calibri" charset="0"/>
                        <a:cs typeface="Calibri" charset="0"/>
                      </a:endParaRPr>
                    </a:p>
                    <a:p>
                      <a:pPr marL="0" indent="0" algn="ctr">
                        <a:buNone/>
                      </a:pPr>
                      <a:r>
                        <a:rPr lang="en-US" sz="1200" dirty="0">
                          <a:solidFill>
                            <a:srgbClr val="000000"/>
                          </a:solidFill>
                          <a:latin typeface="Calibri" pitchFamily="34" charset="0"/>
                          <a:ea typeface="Calibri" pitchFamily="34" charset="-122"/>
                          <a:cs typeface="Calibri" pitchFamily="34" charset="-120"/>
                        </a:rPr>
                        <a:t>&lt; 10% coarse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Good — close</a:t>
                      </a:r>
                      <a:endParaRPr lang="en-US" sz="1200" dirty="0">
                        <a:latin typeface="Calibri" charset="0"/>
                        <a:ea typeface="Calibri" charset="0"/>
                        <a:cs typeface="Calibri" charset="0"/>
                      </a:endParaRPr>
                    </a:p>
                    <a:p>
                      <a:pPr marL="0" indent="0" algn="ctr">
                        <a:buNone/>
                      </a:pPr>
                      <a:r>
                        <a:rPr lang="en-US" sz="1200" dirty="0">
                          <a:solidFill>
                            <a:srgbClr val="000000"/>
                          </a:solidFill>
                          <a:latin typeface="Calibri" pitchFamily="34" charset="0"/>
                          <a:ea typeface="Calibri" pitchFamily="34" charset="-122"/>
                          <a:cs typeface="Calibri" pitchFamily="34" charset="-120"/>
                        </a:rPr>
                        <a:t>to manual</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Very poor —</a:t>
                      </a:r>
                      <a:endParaRPr lang="en-US" sz="1200" dirty="0">
                        <a:latin typeface="Calibri" charset="0"/>
                        <a:ea typeface="Calibri" charset="0"/>
                        <a:cs typeface="Calibri" charset="0"/>
                      </a:endParaRPr>
                    </a:p>
                    <a:p>
                      <a:pPr marL="0" indent="0" algn="ctr">
                        <a:buNone/>
                      </a:pPr>
                      <a:r>
                        <a:rPr lang="en-US" sz="1200" dirty="0">
                          <a:solidFill>
                            <a:srgbClr val="000000"/>
                          </a:solidFill>
                          <a:latin typeface="Calibri" pitchFamily="34" charset="0"/>
                          <a:ea typeface="Calibri" pitchFamily="34" charset="-122"/>
                          <a:cs typeface="Calibri" pitchFamily="34" charset="-120"/>
                        </a:rPr>
                        <a:t>teeth jam</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extLst>
                  <a:ext uri="{0D108BD9-81ED-4DB2-BD59-A6C34878D82A}">
                    <a16:rowId xmlns:a16="http://schemas.microsoft.com/office/drawing/2014/main" val="10003"/>
                  </a:ext>
                </a:extLst>
              </a:tr>
              <a:tr h="345626">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Selectivity</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extLst>
                  <a:ext uri="{0D108BD9-81ED-4DB2-BD59-A6C34878D82A}">
                    <a16:rowId xmlns:a16="http://schemas.microsoft.com/office/drawing/2014/main" val="10004"/>
                  </a:ext>
                </a:extLst>
              </a:tr>
              <a:tr h="345626">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Sri Lanka Terrain</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Hilly (partly)</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Hilly (partly)</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Any land</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Any land</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Not tested</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CF0F1"/>
                    </a:solidFill>
                  </a:tcPr>
                </a:tc>
                <a:extLst>
                  <a:ext uri="{0D108BD9-81ED-4DB2-BD59-A6C34878D82A}">
                    <a16:rowId xmlns:a16="http://schemas.microsoft.com/office/drawing/2014/main" val="10005"/>
                  </a:ext>
                </a:extLst>
              </a:tr>
              <a:tr h="345626">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SL Pluck Cycle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14–16 days ✅</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14–16 days ✅</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14–16 days ✅</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 days ✅</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Not suitable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extLst>
                  <a:ext uri="{0D108BD9-81ED-4DB2-BD59-A6C34878D82A}">
                    <a16:rowId xmlns:a16="http://schemas.microsoft.com/office/drawing/2014/main" val="10006"/>
                  </a:ext>
                </a:extLst>
              </a:tr>
              <a:tr h="422431">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Overall Rating</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A1B"/>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p>
                      <a:pPr marL="0" indent="0" algn="ctr">
                        <a:buNone/>
                      </a:pPr>
                      <a:r>
                        <a:rPr lang="en-US" sz="1200" b="1" dirty="0">
                          <a:solidFill>
                            <a:srgbClr val="000000"/>
                          </a:solidFill>
                          <a:latin typeface="Calibri" pitchFamily="34" charset="0"/>
                          <a:ea typeface="Calibri" pitchFamily="34" charset="-122"/>
                          <a:cs typeface="Calibri" pitchFamily="34" charset="-120"/>
                        </a:rPr>
                        <a:t>3 / 5</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p>
                      <a:pPr marL="0" indent="0" algn="ctr">
                        <a:buNone/>
                      </a:pPr>
                      <a:r>
                        <a:rPr lang="en-US" sz="1200" b="1" dirty="0">
                          <a:solidFill>
                            <a:srgbClr val="000000"/>
                          </a:solidFill>
                          <a:latin typeface="Calibri" pitchFamily="34" charset="0"/>
                          <a:ea typeface="Calibri" pitchFamily="34" charset="-122"/>
                          <a:cs typeface="Calibri" pitchFamily="34" charset="-120"/>
                        </a:rPr>
                        <a:t>2 / 5</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p>
                      <a:pPr marL="0" indent="0" algn="ctr">
                        <a:buNone/>
                      </a:pPr>
                      <a:r>
                        <a:rPr lang="en-US" sz="1200" b="1" dirty="0">
                          <a:solidFill>
                            <a:srgbClr val="000000"/>
                          </a:solidFill>
                          <a:latin typeface="Calibri" pitchFamily="34" charset="0"/>
                          <a:ea typeface="Calibri" pitchFamily="34" charset="-122"/>
                          <a:cs typeface="Calibri" pitchFamily="34" charset="-120"/>
                        </a:rPr>
                        <a:t>3 / 5</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p>
                      <a:pPr marL="0" indent="0" algn="ctr">
                        <a:buNone/>
                      </a:pPr>
                      <a:r>
                        <a:rPr lang="en-US" sz="1200" b="1" dirty="0">
                          <a:solidFill>
                            <a:srgbClr val="000000"/>
                          </a:solidFill>
                          <a:latin typeface="Calibri" pitchFamily="34" charset="0"/>
                          <a:ea typeface="Calibri" pitchFamily="34" charset="-122"/>
                          <a:cs typeface="Calibri" pitchFamily="34" charset="-120"/>
                        </a:rPr>
                        <a:t>4 / 5</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p>
                      <a:pPr marL="0" indent="0" algn="ctr">
                        <a:buNone/>
                      </a:pPr>
                      <a:r>
                        <a:rPr lang="en-US" sz="1200" b="1" dirty="0">
                          <a:solidFill>
                            <a:srgbClr val="000000"/>
                          </a:solidFill>
                          <a:latin typeface="Calibri" pitchFamily="34" charset="0"/>
                          <a:ea typeface="Calibri" pitchFamily="34" charset="-122"/>
                          <a:cs typeface="Calibri" pitchFamily="34" charset="-120"/>
                        </a:rPr>
                        <a:t>1 / 5</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DBD8"/>
                    </a:solidFill>
                  </a:tcPr>
                </a:tc>
                <a:extLst>
                  <a:ext uri="{0D108BD9-81ED-4DB2-BD59-A6C34878D82A}">
                    <a16:rowId xmlns:a16="http://schemas.microsoft.com/office/drawing/2014/main" val="10007"/>
                  </a:ext>
                </a:extLst>
              </a:tr>
            </a:tbl>
          </a:graphicData>
        </a:graphic>
      </p:graphicFrame>
      <p:pic>
        <p:nvPicPr>
          <p:cNvPr id="14" name="Picture 13">
            <a:extLst>
              <a:ext uri="{FF2B5EF4-FFF2-40B4-BE49-F238E27FC236}">
                <a16:creationId xmlns:a16="http://schemas.microsoft.com/office/drawing/2014/main" id="{09115FB2-2AE1-5498-F8C4-45AE36F07DD7}"/>
              </a:ext>
            </a:extLst>
          </p:cNvPr>
          <p:cNvPicPr>
            <a:picLocks noChangeAspect="1"/>
          </p:cNvPicPr>
          <p:nvPr/>
        </p:nvPicPr>
        <p:blipFill>
          <a:blip r:embed="rId7"/>
          <a:srcRect l="6187" t="3671" r="3888" b="12479"/>
          <a:stretch>
            <a:fillRect/>
          </a:stretch>
        </p:blipFill>
        <p:spPr>
          <a:xfrm>
            <a:off x="3051544" y="4090895"/>
            <a:ext cx="1426845" cy="955041"/>
          </a:xfrm>
          <a:prstGeom prst="rect">
            <a:avLst/>
          </a:prstGeom>
        </p:spPr>
      </p:pic>
      <p:pic>
        <p:nvPicPr>
          <p:cNvPr id="16" name="Picture 15">
            <a:extLst>
              <a:ext uri="{FF2B5EF4-FFF2-40B4-BE49-F238E27FC236}">
                <a16:creationId xmlns:a16="http://schemas.microsoft.com/office/drawing/2014/main" id="{71A0948B-E143-0581-C35F-435C59A6BCDD}"/>
              </a:ext>
            </a:extLst>
          </p:cNvPr>
          <p:cNvPicPr>
            <a:picLocks noChangeAspect="1"/>
          </p:cNvPicPr>
          <p:nvPr/>
        </p:nvPicPr>
        <p:blipFill>
          <a:blip r:embed="rId8"/>
          <a:stretch>
            <a:fillRect/>
          </a:stretch>
        </p:blipFill>
        <p:spPr>
          <a:xfrm>
            <a:off x="7490774" y="4090895"/>
            <a:ext cx="1402615" cy="955041"/>
          </a:xfrm>
          <a:prstGeom prst="rect">
            <a:avLst/>
          </a:prstGeom>
        </p:spPr>
      </p:pic>
      <p:pic>
        <p:nvPicPr>
          <p:cNvPr id="17" name="Picture 16">
            <a:extLst>
              <a:ext uri="{FF2B5EF4-FFF2-40B4-BE49-F238E27FC236}">
                <a16:creationId xmlns:a16="http://schemas.microsoft.com/office/drawing/2014/main" id="{421E2DF9-11E0-8391-8A96-2CFC5D55029B}"/>
              </a:ext>
            </a:extLst>
          </p:cNvPr>
          <p:cNvPicPr>
            <a:picLocks noChangeAspect="1"/>
          </p:cNvPicPr>
          <p:nvPr/>
        </p:nvPicPr>
        <p:blipFill>
          <a:blip r:embed="rId9"/>
          <a:srcRect t="5814" r="6367" b="11730"/>
          <a:stretch>
            <a:fillRect/>
          </a:stretch>
        </p:blipFill>
        <p:spPr>
          <a:xfrm>
            <a:off x="4545395" y="4090894"/>
            <a:ext cx="1426845" cy="955042"/>
          </a:xfrm>
          <a:prstGeom prst="rect">
            <a:avLst/>
          </a:prstGeom>
        </p:spPr>
      </p:pic>
      <p:pic>
        <p:nvPicPr>
          <p:cNvPr id="18" name="Picture 17">
            <a:extLst>
              <a:ext uri="{FF2B5EF4-FFF2-40B4-BE49-F238E27FC236}">
                <a16:creationId xmlns:a16="http://schemas.microsoft.com/office/drawing/2014/main" id="{378E5AD6-EFEE-7D95-4207-DC13BA56AC75}"/>
              </a:ext>
            </a:extLst>
          </p:cNvPr>
          <p:cNvPicPr>
            <a:picLocks noChangeAspect="1"/>
          </p:cNvPicPr>
          <p:nvPr/>
        </p:nvPicPr>
        <p:blipFill>
          <a:blip r:embed="rId10"/>
          <a:srcRect t="20571" r="10899" b="4090"/>
          <a:stretch>
            <a:fillRect/>
          </a:stretch>
        </p:blipFill>
        <p:spPr>
          <a:xfrm>
            <a:off x="6030199" y="4090896"/>
            <a:ext cx="1402615" cy="968180"/>
          </a:xfrm>
          <a:prstGeom prst="rect">
            <a:avLst/>
          </a:prstGeom>
        </p:spPr>
      </p:pic>
      <p:pic>
        <p:nvPicPr>
          <p:cNvPr id="19" name="WhatsApp Video 2026-05-09 at 12.26.30">
            <a:hlinkClick r:id="" action="ppaction://media"/>
            <a:extLst>
              <a:ext uri="{FF2B5EF4-FFF2-40B4-BE49-F238E27FC236}">
                <a16:creationId xmlns:a16="http://schemas.microsoft.com/office/drawing/2014/main" id="{760B1D97-9BA3-7E92-EF15-A1151CC80DF3}"/>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rot="16200000">
            <a:off x="1649123" y="3714617"/>
            <a:ext cx="968182" cy="1720741"/>
          </a:xfrm>
          <a:prstGeom prst="rect">
            <a:avLst/>
          </a:prstGeom>
        </p:spPr>
      </p:pic>
      <p:sp>
        <p:nvSpPr>
          <p:cNvPr id="7" name="Arrow: Right 6">
            <a:extLst>
              <a:ext uri="{FF2B5EF4-FFF2-40B4-BE49-F238E27FC236}">
                <a16:creationId xmlns:a16="http://schemas.microsoft.com/office/drawing/2014/main" id="{A7450A3C-AA9D-4726-BCEA-57C6EDC8876A}"/>
              </a:ext>
            </a:extLst>
          </p:cNvPr>
          <p:cNvSpPr/>
          <p:nvPr/>
        </p:nvSpPr>
        <p:spPr>
          <a:xfrm>
            <a:off x="962167" y="4475257"/>
            <a:ext cx="213777" cy="25930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8" name="TextBox 7">
            <a:extLst>
              <a:ext uri="{FF2B5EF4-FFF2-40B4-BE49-F238E27FC236}">
                <a16:creationId xmlns:a16="http://schemas.microsoft.com/office/drawing/2014/main" id="{ADA30967-EDAE-454C-8F76-FE29CD162D8D}"/>
              </a:ext>
            </a:extLst>
          </p:cNvPr>
          <p:cNvSpPr txBox="1"/>
          <p:nvPr/>
        </p:nvSpPr>
        <p:spPr>
          <a:xfrm>
            <a:off x="182880" y="4116316"/>
            <a:ext cx="921173" cy="977191"/>
          </a:xfrm>
          <a:prstGeom prst="rect">
            <a:avLst/>
          </a:prstGeom>
          <a:noFill/>
        </p:spPr>
        <p:txBody>
          <a:bodyPr wrap="square" rtlCol="0">
            <a:spAutoFit/>
          </a:bodyPr>
          <a:lstStyle/>
          <a:p>
            <a:r>
              <a:rPr lang="en-US" sz="1150" b="1" dirty="0">
                <a:solidFill>
                  <a:srgbClr val="FF0000"/>
                </a:solidFill>
              </a:rPr>
              <a:t>Operation of the currently using machine</a:t>
            </a:r>
          </a:p>
        </p:txBody>
      </p:sp>
      <p:sp>
        <p:nvSpPr>
          <p:cNvPr id="9" name="Flowchart: Connector 8">
            <a:extLst>
              <a:ext uri="{FF2B5EF4-FFF2-40B4-BE49-F238E27FC236}">
                <a16:creationId xmlns:a16="http://schemas.microsoft.com/office/drawing/2014/main" id="{F7F26B07-5D17-49AF-A9D9-3046DD47A9B9}"/>
              </a:ext>
            </a:extLst>
          </p:cNvPr>
          <p:cNvSpPr/>
          <p:nvPr/>
        </p:nvSpPr>
        <p:spPr>
          <a:xfrm>
            <a:off x="3309581" y="3653171"/>
            <a:ext cx="150125" cy="163774"/>
          </a:xfrm>
          <a:prstGeom prst="flowChartConnector">
            <a:avLst/>
          </a:prstGeom>
          <a:solidFill>
            <a:srgbClr val="00D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a:extLst>
              <a:ext uri="{FF2B5EF4-FFF2-40B4-BE49-F238E27FC236}">
                <a16:creationId xmlns:a16="http://schemas.microsoft.com/office/drawing/2014/main" id="{CBD2C047-2758-4317-9B5D-3D108D402A71}"/>
              </a:ext>
            </a:extLst>
          </p:cNvPr>
          <p:cNvSpPr/>
          <p:nvPr/>
        </p:nvSpPr>
        <p:spPr>
          <a:xfrm>
            <a:off x="3537043" y="3653171"/>
            <a:ext cx="150125" cy="163774"/>
          </a:xfrm>
          <a:prstGeom prst="flowChartConnector">
            <a:avLst/>
          </a:prstGeom>
          <a:solidFill>
            <a:srgbClr val="00D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Connector 19">
            <a:extLst>
              <a:ext uri="{FF2B5EF4-FFF2-40B4-BE49-F238E27FC236}">
                <a16:creationId xmlns:a16="http://schemas.microsoft.com/office/drawing/2014/main" id="{338999AD-BF2B-4436-AF55-760A6FAC4B18}"/>
              </a:ext>
            </a:extLst>
          </p:cNvPr>
          <p:cNvSpPr/>
          <p:nvPr/>
        </p:nvSpPr>
        <p:spPr>
          <a:xfrm>
            <a:off x="7706435" y="3653171"/>
            <a:ext cx="150125" cy="163774"/>
          </a:xfrm>
          <a:prstGeom prst="flowChartConnector">
            <a:avLst/>
          </a:prstGeom>
          <a:solidFill>
            <a:srgbClr val="00D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VID-20260511-WA0023">
            <a:hlinkClick r:id="" action="ppaction://media"/>
            <a:extLst>
              <a:ext uri="{FF2B5EF4-FFF2-40B4-BE49-F238E27FC236}">
                <a16:creationId xmlns:a16="http://schemas.microsoft.com/office/drawing/2014/main" id="{6ED28E60-8E65-462D-B30D-66EFA48307FD}"/>
              </a:ext>
            </a:extLst>
          </p:cNvPr>
          <p:cNvPicPr>
            <a:picLocks noChangeAspect="1"/>
          </p:cNvPicPr>
          <p:nvPr>
            <a:videoFile r:link="rId4"/>
            <p:extLst>
              <p:ext uri="{DAA4B4D4-6D71-4841-9C94-3DE7FCFB9230}">
                <p14:media xmlns:p14="http://schemas.microsoft.com/office/powerpoint/2010/main" r:embed="rId3"/>
              </p:ext>
            </p:extLst>
          </p:nvPr>
        </p:nvPicPr>
        <p:blipFill>
          <a:blip r:embed="rId12"/>
          <a:stretch>
            <a:fillRect/>
          </a:stretch>
        </p:blipFill>
        <p:spPr>
          <a:xfrm rot="16200000">
            <a:off x="1576722" y="3718883"/>
            <a:ext cx="1044852" cy="17888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15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9"/>
                </p:tgtEl>
              </p:cMediaNode>
            </p:video>
            <p:video>
              <p:cMediaNode vol="80000">
                <p:cTn id="8" fill="hold" display="0">
                  <p:stCondLst>
                    <p:cond delay="indefinite"/>
                  </p:stCondLst>
                </p:cTn>
                <p:tgtEl>
                  <p:spTgt spid="10"/>
                </p:tgtEl>
              </p:cMediaNode>
            </p:video>
            <p:seq concurrent="1" nextAc="seek">
              <p:cTn id="9" restart="whenNotActive" fill="hold" evtFilter="cancelBubble" nodeType="interactiveSeq">
                <p:stCondLst>
                  <p:cond evt="onClick" delay="0">
                    <p:tgtEl>
                      <p:spTgt spid="10"/>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p:cTn id="13"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5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C5F2D"/>
          </a:solidFill>
          <a:ln w="12700">
            <a:solidFill>
              <a:srgbClr val="2C5F2D"/>
            </a:solidFill>
            <a:prstDash val="solid"/>
          </a:ln>
        </p:spPr>
        <p:txBody>
          <a:bodyPr/>
          <a:lstStyle/>
          <a:p>
            <a:endParaRPr lang="en-US"/>
          </a:p>
        </p:txBody>
      </p:sp>
      <p:sp>
        <p:nvSpPr>
          <p:cNvPr id="3" name="Text 1"/>
          <p:cNvSpPr/>
          <p:nvPr/>
        </p:nvSpPr>
        <p:spPr>
          <a:xfrm>
            <a:off x="365760" y="0"/>
            <a:ext cx="8229600" cy="777240"/>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ENGINEERING DESIGN &amp; METHODOLOGY</a:t>
            </a:r>
            <a:endParaRPr lang="en-US" sz="2000" dirty="0"/>
          </a:p>
        </p:txBody>
      </p:sp>
      <p:sp>
        <p:nvSpPr>
          <p:cNvPr id="4" name="Text 2"/>
          <p:cNvSpPr/>
          <p:nvPr/>
        </p:nvSpPr>
        <p:spPr>
          <a:xfrm>
            <a:off x="8412480" y="0"/>
            <a:ext cx="548640" cy="777240"/>
          </a:xfrm>
          <a:prstGeom prst="rect">
            <a:avLst/>
          </a:prstGeom>
          <a:noFill/>
          <a:ln/>
        </p:spPr>
        <p:txBody>
          <a:bodyPr wrap="square" rtlCol="0" anchor="ctr"/>
          <a:lstStyle/>
          <a:p>
            <a:pPr marL="0" indent="0" algn="r">
              <a:buNone/>
            </a:pPr>
            <a:r>
              <a:rPr lang="en-US" sz="2000" b="1" dirty="0">
                <a:solidFill>
                  <a:srgbClr val="97BC62"/>
                </a:solidFill>
                <a:latin typeface="Calibri" pitchFamily="34" charset="0"/>
                <a:ea typeface="Calibri" pitchFamily="34" charset="-122"/>
                <a:cs typeface="Calibri" pitchFamily="34" charset="-120"/>
              </a:rPr>
              <a:t>04</a:t>
            </a:r>
            <a:endParaRPr lang="en-US" sz="2000" dirty="0"/>
          </a:p>
        </p:txBody>
      </p:sp>
      <p:sp>
        <p:nvSpPr>
          <p:cNvPr id="8" name="Text 6"/>
          <p:cNvSpPr/>
          <p:nvPr/>
        </p:nvSpPr>
        <p:spPr>
          <a:xfrm>
            <a:off x="384048" y="1408973"/>
            <a:ext cx="3931920" cy="1280160"/>
          </a:xfrm>
          <a:prstGeom prst="rect">
            <a:avLst/>
          </a:prstGeom>
          <a:noFill/>
          <a:ln/>
        </p:spPr>
        <p:txBody>
          <a:bodyPr wrap="square" rtlCol="0" anchor="t"/>
          <a:lstStyle/>
          <a:p>
            <a:pPr marL="0" indent="0" algn="l">
              <a:lnSpc>
                <a:spcPct val="130000"/>
              </a:lnSpc>
              <a:buNone/>
            </a:pPr>
            <a:endParaRPr lang="en-US" sz="1100" dirty="0"/>
          </a:p>
        </p:txBody>
      </p:sp>
      <p:sp>
        <p:nvSpPr>
          <p:cNvPr id="9" name="Shape 7"/>
          <p:cNvSpPr/>
          <p:nvPr/>
        </p:nvSpPr>
        <p:spPr>
          <a:xfrm>
            <a:off x="2524" y="603701"/>
            <a:ext cx="2762147" cy="1145109"/>
          </a:xfrm>
          <a:prstGeom prst="rect">
            <a:avLst/>
          </a:prstGeom>
          <a:solidFill>
            <a:srgbClr val="FFFFFF"/>
          </a:solidFill>
          <a:ln w="12700">
            <a:solidFill>
              <a:srgbClr val="DDDDDD"/>
            </a:solidFill>
            <a:prstDash val="solid"/>
          </a:ln>
          <a:effectLst>
            <a:outerShdw blurRad="63500" dist="25400" dir="8100000" algn="bl" rotWithShape="0">
              <a:srgbClr val="000000">
                <a:alpha val="12000"/>
              </a:srgbClr>
            </a:outerShdw>
          </a:effectLst>
        </p:spPr>
        <p:txBody>
          <a:bodyPr/>
          <a:lstStyle/>
          <a:p>
            <a:endParaRPr lang="en-US"/>
          </a:p>
        </p:txBody>
      </p:sp>
      <p:sp>
        <p:nvSpPr>
          <p:cNvPr id="10" name="Shape 8"/>
          <p:cNvSpPr/>
          <p:nvPr/>
        </p:nvSpPr>
        <p:spPr>
          <a:xfrm>
            <a:off x="14160" y="636254"/>
            <a:ext cx="2497540" cy="308610"/>
          </a:xfrm>
          <a:prstGeom prst="rect">
            <a:avLst/>
          </a:prstGeom>
          <a:solidFill>
            <a:srgbClr val="2980B9"/>
          </a:solidFill>
          <a:ln w="12700">
            <a:solidFill>
              <a:srgbClr val="2980B9"/>
            </a:solidFill>
            <a:prstDash val="solid"/>
          </a:ln>
        </p:spPr>
        <p:txBody>
          <a:bodyPr/>
          <a:lstStyle/>
          <a:p>
            <a:endParaRPr lang="en-US" dirty="0"/>
          </a:p>
        </p:txBody>
      </p:sp>
      <p:sp>
        <p:nvSpPr>
          <p:cNvPr id="11" name="Text 9"/>
          <p:cNvSpPr/>
          <p:nvPr/>
        </p:nvSpPr>
        <p:spPr>
          <a:xfrm>
            <a:off x="-161748" y="420939"/>
            <a:ext cx="4023360" cy="797397"/>
          </a:xfrm>
          <a:prstGeom prst="rect">
            <a:avLst/>
          </a:prstGeom>
          <a:noFill/>
          <a:ln/>
        </p:spPr>
        <p:txBody>
          <a:bodyPr wrap="square"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  Concept A: Sensor-Guided Bending Shear</a:t>
            </a:r>
            <a:endParaRPr lang="en-US" sz="1050" dirty="0"/>
          </a:p>
        </p:txBody>
      </p:sp>
      <p:sp>
        <p:nvSpPr>
          <p:cNvPr id="12" name="Text 10"/>
          <p:cNvSpPr/>
          <p:nvPr/>
        </p:nvSpPr>
        <p:spPr>
          <a:xfrm>
            <a:off x="115705" y="887414"/>
            <a:ext cx="2370637" cy="1452545"/>
          </a:xfrm>
          <a:prstGeom prst="rect">
            <a:avLst/>
          </a:prstGeom>
          <a:noFill/>
          <a:ln/>
        </p:spPr>
        <p:txBody>
          <a:bodyPr wrap="square" rtlCol="0" anchor="t"/>
          <a:lstStyle/>
          <a:p>
            <a:pPr marL="0" indent="0" algn="l">
              <a:buNone/>
            </a:pPr>
            <a:r>
              <a:rPr lang="en-US" sz="1100" dirty="0">
                <a:solidFill>
                  <a:srgbClr val="1C2B1D"/>
                </a:solidFill>
                <a:latin typeface="Calibri" pitchFamily="34" charset="0"/>
                <a:ea typeface="Calibri" pitchFamily="34" charset="-122"/>
                <a:cs typeface="Calibri" pitchFamily="34" charset="-120"/>
              </a:rPr>
              <a:t>Exploits stem flexural rigidity. Deflector bends mature stems to 80° yield point. Sensor array detects bud position → dynamically adjustable blade targets the exact internode.</a:t>
            </a:r>
            <a:endParaRPr lang="en-US" sz="1100" dirty="0"/>
          </a:p>
        </p:txBody>
      </p:sp>
      <p:sp>
        <p:nvSpPr>
          <p:cNvPr id="13" name="Shape 11"/>
          <p:cNvSpPr/>
          <p:nvPr/>
        </p:nvSpPr>
        <p:spPr>
          <a:xfrm>
            <a:off x="3018375" y="589269"/>
            <a:ext cx="2764332" cy="1203323"/>
          </a:xfrm>
          <a:prstGeom prst="rect">
            <a:avLst/>
          </a:prstGeom>
          <a:solidFill>
            <a:srgbClr val="FFFFFF"/>
          </a:solidFill>
          <a:ln w="12700">
            <a:solidFill>
              <a:srgbClr val="DDDDDD"/>
            </a:solidFill>
            <a:prstDash val="solid"/>
          </a:ln>
          <a:effectLst>
            <a:outerShdw blurRad="63500" dist="25400" dir="8100000" algn="bl" rotWithShape="0">
              <a:srgbClr val="000000">
                <a:alpha val="12000"/>
              </a:srgbClr>
            </a:outerShdw>
          </a:effectLst>
        </p:spPr>
        <p:txBody>
          <a:bodyPr/>
          <a:lstStyle/>
          <a:p>
            <a:endParaRPr lang="en-US" dirty="0"/>
          </a:p>
        </p:txBody>
      </p:sp>
      <p:sp>
        <p:nvSpPr>
          <p:cNvPr id="14" name="Shape 12"/>
          <p:cNvSpPr/>
          <p:nvPr/>
        </p:nvSpPr>
        <p:spPr>
          <a:xfrm>
            <a:off x="3028341" y="619764"/>
            <a:ext cx="2656381" cy="242521"/>
          </a:xfrm>
          <a:prstGeom prst="rect">
            <a:avLst/>
          </a:prstGeom>
          <a:solidFill>
            <a:srgbClr val="8E44AD"/>
          </a:solidFill>
          <a:ln w="12700">
            <a:solidFill>
              <a:srgbClr val="8E44AD"/>
            </a:solidFill>
            <a:prstDash val="solid"/>
          </a:ln>
        </p:spPr>
        <p:txBody>
          <a:bodyPr/>
          <a:lstStyle/>
          <a:p>
            <a:endParaRPr lang="en-US" dirty="0"/>
          </a:p>
        </p:txBody>
      </p:sp>
      <p:sp>
        <p:nvSpPr>
          <p:cNvPr id="15" name="Text 13"/>
          <p:cNvSpPr/>
          <p:nvPr/>
        </p:nvSpPr>
        <p:spPr>
          <a:xfrm>
            <a:off x="2560320" y="507221"/>
            <a:ext cx="4023360" cy="45720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       🔬  Concept B: Optical Micro-Shear System</a:t>
            </a:r>
            <a:endParaRPr lang="en-US" sz="1100" dirty="0"/>
          </a:p>
        </p:txBody>
      </p:sp>
      <p:sp>
        <p:nvSpPr>
          <p:cNvPr id="16" name="Text 14"/>
          <p:cNvSpPr/>
          <p:nvPr/>
        </p:nvSpPr>
        <p:spPr>
          <a:xfrm>
            <a:off x="3052471" y="876938"/>
            <a:ext cx="2683738" cy="1280160"/>
          </a:xfrm>
          <a:prstGeom prst="rect">
            <a:avLst/>
          </a:prstGeom>
          <a:noFill/>
          <a:ln/>
        </p:spPr>
        <p:txBody>
          <a:bodyPr wrap="square" rtlCol="0" anchor="t"/>
          <a:lstStyle/>
          <a:p>
            <a:pPr marL="0" indent="0" algn="l">
              <a:buNone/>
            </a:pPr>
            <a:r>
              <a:rPr lang="en-US" sz="1100" dirty="0">
                <a:solidFill>
                  <a:srgbClr val="1C2B1D"/>
                </a:solidFill>
                <a:latin typeface="Calibri" pitchFamily="34" charset="0"/>
                <a:ea typeface="Calibri" pitchFamily="34" charset="-122"/>
                <a:cs typeface="Calibri" pitchFamily="34" charset="-120"/>
              </a:rPr>
              <a:t>Front facing camera scans canopy, identifies the topmost bud, and counts leaf nodes. If node count ≥ 3, a localized micro-shear severs the specific stem without collateral damage.</a:t>
            </a:r>
            <a:endParaRPr lang="en-US" sz="1100" dirty="0"/>
          </a:p>
        </p:txBody>
      </p:sp>
      <p:sp>
        <p:nvSpPr>
          <p:cNvPr id="17" name="Shape 15"/>
          <p:cNvSpPr/>
          <p:nvPr/>
        </p:nvSpPr>
        <p:spPr>
          <a:xfrm>
            <a:off x="5993963" y="594789"/>
            <a:ext cx="2886367" cy="1398929"/>
          </a:xfrm>
          <a:prstGeom prst="rect">
            <a:avLst/>
          </a:prstGeom>
          <a:solidFill>
            <a:srgbClr val="FFFFFF"/>
          </a:solidFill>
          <a:ln w="12700">
            <a:solidFill>
              <a:srgbClr val="DDDDDD"/>
            </a:solidFill>
            <a:prstDash val="solid"/>
          </a:ln>
          <a:effectLst>
            <a:outerShdw blurRad="63500" dist="25400" dir="8100000" algn="bl" rotWithShape="0">
              <a:srgbClr val="000000">
                <a:alpha val="12000"/>
              </a:srgbClr>
            </a:outerShdw>
          </a:effectLst>
        </p:spPr>
        <p:txBody>
          <a:bodyPr/>
          <a:lstStyle/>
          <a:p>
            <a:endParaRPr lang="en-US"/>
          </a:p>
        </p:txBody>
      </p:sp>
      <p:sp>
        <p:nvSpPr>
          <p:cNvPr id="18" name="Shape 16"/>
          <p:cNvSpPr/>
          <p:nvPr/>
        </p:nvSpPr>
        <p:spPr>
          <a:xfrm>
            <a:off x="6005360" y="654900"/>
            <a:ext cx="2852205" cy="241223"/>
          </a:xfrm>
          <a:prstGeom prst="rect">
            <a:avLst/>
          </a:prstGeom>
          <a:solidFill>
            <a:srgbClr val="C0392B"/>
          </a:solidFill>
          <a:ln w="12700">
            <a:solidFill>
              <a:srgbClr val="C0392B"/>
            </a:solidFill>
            <a:prstDash val="solid"/>
          </a:ln>
        </p:spPr>
        <p:txBody>
          <a:bodyPr/>
          <a:lstStyle/>
          <a:p>
            <a:endParaRPr lang="en-US" dirty="0"/>
          </a:p>
        </p:txBody>
      </p:sp>
      <p:sp>
        <p:nvSpPr>
          <p:cNvPr id="19" name="Text 17"/>
          <p:cNvSpPr/>
          <p:nvPr/>
        </p:nvSpPr>
        <p:spPr>
          <a:xfrm>
            <a:off x="5935548" y="265304"/>
            <a:ext cx="4023360" cy="977120"/>
          </a:xfrm>
          <a:prstGeom prst="rect">
            <a:avLst/>
          </a:prstGeom>
          <a:noFill/>
          <a:ln/>
        </p:spPr>
        <p:txBody>
          <a:bodyPr wrap="square"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  Concept C: Stiffness Based Selection Gate</a:t>
            </a:r>
            <a:endParaRPr lang="en-US" sz="1150" dirty="0"/>
          </a:p>
        </p:txBody>
      </p:sp>
      <p:sp>
        <p:nvSpPr>
          <p:cNvPr id="20" name="Text 18"/>
          <p:cNvSpPr/>
          <p:nvPr/>
        </p:nvSpPr>
        <p:spPr>
          <a:xfrm>
            <a:off x="5982046" y="844924"/>
            <a:ext cx="2910199" cy="1287619"/>
          </a:xfrm>
          <a:prstGeom prst="rect">
            <a:avLst/>
          </a:prstGeom>
          <a:noFill/>
          <a:ln/>
        </p:spPr>
        <p:txBody>
          <a:bodyPr wrap="square" rtlCol="0" anchor="t"/>
          <a:lstStyle/>
          <a:p>
            <a:pPr marL="0" indent="0" algn="l">
              <a:buNone/>
            </a:pPr>
            <a:r>
              <a:rPr lang="en-US" sz="1100" dirty="0">
                <a:solidFill>
                  <a:srgbClr val="1C2B1D"/>
                </a:solidFill>
                <a:latin typeface="Calibri" pitchFamily="34" charset="0"/>
                <a:ea typeface="Calibri" pitchFamily="34" charset="-122"/>
                <a:cs typeface="Calibri" pitchFamily="34" charset="-120"/>
              </a:rPr>
              <a:t>A mechanical comb attachment uses flexible strips to sort shoots by stem stiffness. Flexible immature shoots bend safely underneath the gates, while rigid mature stems push the gates open to reach the cutting blades.</a:t>
            </a:r>
            <a:endParaRPr lang="en-US" sz="1100" dirty="0"/>
          </a:p>
        </p:txBody>
      </p:sp>
      <p:sp>
        <p:nvSpPr>
          <p:cNvPr id="21" name="Shape 19"/>
          <p:cNvSpPr/>
          <p:nvPr/>
        </p:nvSpPr>
        <p:spPr>
          <a:xfrm>
            <a:off x="0" y="4663440"/>
            <a:ext cx="9144000" cy="480060"/>
          </a:xfrm>
          <a:prstGeom prst="rect">
            <a:avLst/>
          </a:prstGeom>
          <a:solidFill>
            <a:srgbClr val="1A3A1B"/>
          </a:solidFill>
          <a:ln w="12700">
            <a:solidFill>
              <a:srgbClr val="1A3A1B"/>
            </a:solidFill>
            <a:prstDash val="solid"/>
          </a:ln>
        </p:spPr>
        <p:txBody>
          <a:bodyPr/>
          <a:lstStyle/>
          <a:p>
            <a:endParaRPr lang="en-US" dirty="0"/>
          </a:p>
        </p:txBody>
      </p:sp>
      <p:sp>
        <p:nvSpPr>
          <p:cNvPr id="22" name="Text 20"/>
          <p:cNvSpPr/>
          <p:nvPr/>
        </p:nvSpPr>
        <p:spPr>
          <a:xfrm>
            <a:off x="274320" y="4663440"/>
            <a:ext cx="1696720" cy="480060"/>
          </a:xfrm>
          <a:prstGeom prst="rect">
            <a:avLst/>
          </a:prstGeom>
          <a:noFill/>
          <a:ln/>
        </p:spPr>
        <p:txBody>
          <a:bodyPr wrap="square" rtlCol="0" anchor="ctr"/>
          <a:lstStyle/>
          <a:p>
            <a:pPr marL="0" indent="0" algn="l">
              <a:buNone/>
            </a:pPr>
            <a:r>
              <a:rPr lang="en-US" sz="1300" b="1" dirty="0">
                <a:solidFill>
                  <a:srgbClr val="97BC62"/>
                </a:solidFill>
                <a:latin typeface="Calibri" pitchFamily="34" charset="0"/>
                <a:ea typeface="Calibri" pitchFamily="34" charset="-122"/>
                <a:cs typeface="Calibri" pitchFamily="34" charset="-120"/>
              </a:rPr>
              <a:t>SOFTWARE TOOLS:</a:t>
            </a:r>
            <a:endParaRPr lang="en-US" sz="1300" dirty="0"/>
          </a:p>
        </p:txBody>
      </p:sp>
      <p:sp>
        <p:nvSpPr>
          <p:cNvPr id="23" name="Text 21"/>
          <p:cNvSpPr/>
          <p:nvPr/>
        </p:nvSpPr>
        <p:spPr>
          <a:xfrm>
            <a:off x="1737360" y="4663440"/>
            <a:ext cx="7132320" cy="480060"/>
          </a:xfrm>
          <a:prstGeom prst="rect">
            <a:avLst/>
          </a:prstGeom>
          <a:noFill/>
          <a:ln/>
        </p:spPr>
        <p:txBody>
          <a:bodyPr wrap="square"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SolidWorks 2024  ·  Ansys FEA  ·  MATLAB / Python  ·  GitHub</a:t>
            </a:r>
            <a:endParaRPr lang="en-US" sz="1300" dirty="0"/>
          </a:p>
        </p:txBody>
      </p:sp>
      <p:pic>
        <p:nvPicPr>
          <p:cNvPr id="26" name="Picture 25">
            <a:extLst>
              <a:ext uri="{FF2B5EF4-FFF2-40B4-BE49-F238E27FC236}">
                <a16:creationId xmlns:a16="http://schemas.microsoft.com/office/drawing/2014/main" id="{D0AA953D-30EC-408F-88A2-A62478C543C1}"/>
              </a:ext>
            </a:extLst>
          </p:cNvPr>
          <p:cNvPicPr>
            <a:picLocks noChangeAspect="1"/>
          </p:cNvPicPr>
          <p:nvPr/>
        </p:nvPicPr>
        <p:blipFill rotWithShape="1">
          <a:blip r:embed="rId3"/>
          <a:srcRect t="9430"/>
          <a:stretch/>
        </p:blipFill>
        <p:spPr>
          <a:xfrm>
            <a:off x="-18680" y="1730278"/>
            <a:ext cx="2791218" cy="2889379"/>
          </a:xfrm>
          <a:prstGeom prst="rect">
            <a:avLst/>
          </a:prstGeom>
        </p:spPr>
      </p:pic>
      <p:pic>
        <p:nvPicPr>
          <p:cNvPr id="28" name="Picture 27">
            <a:extLst>
              <a:ext uri="{FF2B5EF4-FFF2-40B4-BE49-F238E27FC236}">
                <a16:creationId xmlns:a16="http://schemas.microsoft.com/office/drawing/2014/main" id="{0BB98814-1E7B-4552-AC7F-6262F1EE6E88}"/>
              </a:ext>
            </a:extLst>
          </p:cNvPr>
          <p:cNvPicPr>
            <a:picLocks noChangeAspect="1"/>
          </p:cNvPicPr>
          <p:nvPr/>
        </p:nvPicPr>
        <p:blipFill>
          <a:blip r:embed="rId4"/>
          <a:stretch>
            <a:fillRect/>
          </a:stretch>
        </p:blipFill>
        <p:spPr>
          <a:xfrm>
            <a:off x="5982047" y="1860939"/>
            <a:ext cx="2887634" cy="2802502"/>
          </a:xfrm>
          <a:prstGeom prst="rect">
            <a:avLst/>
          </a:prstGeom>
        </p:spPr>
      </p:pic>
      <p:pic>
        <p:nvPicPr>
          <p:cNvPr id="30" name="Picture 29">
            <a:extLst>
              <a:ext uri="{FF2B5EF4-FFF2-40B4-BE49-F238E27FC236}">
                <a16:creationId xmlns:a16="http://schemas.microsoft.com/office/drawing/2014/main" id="{6F17BD19-E8BB-4868-A8BC-8406A722B464}"/>
              </a:ext>
            </a:extLst>
          </p:cNvPr>
          <p:cNvPicPr>
            <a:picLocks noChangeAspect="1"/>
          </p:cNvPicPr>
          <p:nvPr/>
        </p:nvPicPr>
        <p:blipFill>
          <a:blip r:embed="rId5"/>
          <a:stretch>
            <a:fillRect/>
          </a:stretch>
        </p:blipFill>
        <p:spPr>
          <a:xfrm>
            <a:off x="3023088" y="1786777"/>
            <a:ext cx="2759619" cy="28436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5E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7013"/>
          </a:xfrm>
          <a:prstGeom prst="rect">
            <a:avLst/>
          </a:prstGeom>
          <a:solidFill>
            <a:srgbClr val="2C5F2D"/>
          </a:solidFill>
          <a:ln w="12700">
            <a:solidFill>
              <a:srgbClr val="2C5F2D"/>
            </a:solidFill>
            <a:prstDash val="solid"/>
          </a:ln>
        </p:spPr>
        <p:txBody>
          <a:bodyPr/>
          <a:lstStyle/>
          <a:p>
            <a:endParaRPr lang="en-US"/>
          </a:p>
        </p:txBody>
      </p:sp>
      <p:sp>
        <p:nvSpPr>
          <p:cNvPr id="3" name="Text 1"/>
          <p:cNvSpPr/>
          <p:nvPr/>
        </p:nvSpPr>
        <p:spPr>
          <a:xfrm>
            <a:off x="365760" y="0"/>
            <a:ext cx="8229600" cy="657013"/>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PROJECT TIMELINE  —  4 MILESTONES</a:t>
            </a:r>
            <a:endParaRPr lang="en-US" sz="2000" dirty="0"/>
          </a:p>
        </p:txBody>
      </p:sp>
      <p:sp>
        <p:nvSpPr>
          <p:cNvPr id="4" name="Text 2"/>
          <p:cNvSpPr/>
          <p:nvPr/>
        </p:nvSpPr>
        <p:spPr>
          <a:xfrm>
            <a:off x="8412480" y="0"/>
            <a:ext cx="548640" cy="657013"/>
          </a:xfrm>
          <a:prstGeom prst="rect">
            <a:avLst/>
          </a:prstGeom>
          <a:noFill/>
          <a:ln/>
        </p:spPr>
        <p:txBody>
          <a:bodyPr wrap="square" rtlCol="0" anchor="ctr"/>
          <a:lstStyle/>
          <a:p>
            <a:pPr marL="0" indent="0" algn="r">
              <a:buNone/>
            </a:pPr>
            <a:r>
              <a:rPr lang="en-US" sz="2000" b="1" dirty="0">
                <a:solidFill>
                  <a:srgbClr val="97BC62"/>
                </a:solidFill>
                <a:latin typeface="Calibri" pitchFamily="34" charset="0"/>
                <a:ea typeface="Calibri" pitchFamily="34" charset="-122"/>
                <a:cs typeface="Calibri" pitchFamily="34" charset="-120"/>
              </a:rPr>
              <a:t>05</a:t>
            </a:r>
            <a:endParaRPr lang="en-US" sz="2000" dirty="0"/>
          </a:p>
        </p:txBody>
      </p:sp>
      <p:graphicFrame>
        <p:nvGraphicFramePr>
          <p:cNvPr id="45" name="Object 44">
            <a:extLst>
              <a:ext uri="{FF2B5EF4-FFF2-40B4-BE49-F238E27FC236}">
                <a16:creationId xmlns:a16="http://schemas.microsoft.com/office/drawing/2014/main" id="{34E761B1-AFEF-8716-BB69-F244E4E3E51A}"/>
              </a:ext>
            </a:extLst>
          </p:cNvPr>
          <p:cNvGraphicFramePr>
            <a:graphicFrameLocks noChangeAspect="1"/>
          </p:cNvGraphicFramePr>
          <p:nvPr>
            <p:extLst>
              <p:ext uri="{D42A27DB-BD31-4B8C-83A1-F6EECF244321}">
                <p14:modId xmlns:p14="http://schemas.microsoft.com/office/powerpoint/2010/main" val="311578762"/>
              </p:ext>
            </p:extLst>
          </p:nvPr>
        </p:nvGraphicFramePr>
        <p:xfrm>
          <a:off x="114300" y="806028"/>
          <a:ext cx="8915400" cy="4037436"/>
        </p:xfrm>
        <a:graphic>
          <a:graphicData uri="http://schemas.openxmlformats.org/presentationml/2006/ole">
            <mc:AlternateContent xmlns:mc="http://schemas.openxmlformats.org/markup-compatibility/2006">
              <mc:Choice xmlns:v="urn:schemas-microsoft-com:vml" Requires="v">
                <p:oleObj name="Worksheet" r:id="rId3" imgW="10096677" imgH="3969823" progId="Excel.Sheet.12">
                  <p:embed/>
                </p:oleObj>
              </mc:Choice>
              <mc:Fallback>
                <p:oleObj name="Worksheet" r:id="rId3" imgW="10096677" imgH="3969823" progId="Excel.Sheet.12">
                  <p:embed/>
                  <p:pic>
                    <p:nvPicPr>
                      <p:cNvPr id="45" name="Object 44">
                        <a:extLst>
                          <a:ext uri="{FF2B5EF4-FFF2-40B4-BE49-F238E27FC236}">
                            <a16:creationId xmlns:a16="http://schemas.microsoft.com/office/drawing/2014/main" id="{34E761B1-AFEF-8716-BB69-F244E4E3E51A}"/>
                          </a:ext>
                        </a:extLst>
                      </p:cNvPr>
                      <p:cNvPicPr/>
                      <p:nvPr/>
                    </p:nvPicPr>
                    <p:blipFill>
                      <a:blip r:embed="rId4"/>
                      <a:stretch>
                        <a:fillRect/>
                      </a:stretch>
                    </p:blipFill>
                    <p:spPr>
                      <a:xfrm>
                        <a:off x="114300" y="806028"/>
                        <a:ext cx="8915400" cy="4037436"/>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oors dir="ver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3A1B"/>
        </a:solidFill>
        <a:effectLst/>
      </p:bgPr>
    </p:bg>
    <p:spTree>
      <p:nvGrpSpPr>
        <p:cNvPr id="1" name="">
          <a:extLst>
            <a:ext uri="{FF2B5EF4-FFF2-40B4-BE49-F238E27FC236}">
              <a16:creationId xmlns:a16="http://schemas.microsoft.com/office/drawing/2014/main" id="{5E8C2FB6-25D1-6C8A-872A-F3779D1BE4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13299D-7970-F654-C95D-D45409087192}"/>
              </a:ext>
            </a:extLst>
          </p:cNvPr>
          <p:cNvSpPr/>
          <p:nvPr/>
        </p:nvSpPr>
        <p:spPr>
          <a:xfrm>
            <a:off x="0" y="0"/>
            <a:ext cx="9144000" cy="777240"/>
          </a:xfrm>
          <a:prstGeom prst="rect">
            <a:avLst/>
          </a:prstGeom>
          <a:solidFill>
            <a:srgbClr val="2C5F2D"/>
          </a:solidFill>
          <a:ln w="12700">
            <a:solidFill>
              <a:srgbClr val="2C5F2D"/>
            </a:solidFill>
            <a:prstDash val="solid"/>
          </a:ln>
        </p:spPr>
        <p:txBody>
          <a:bodyPr/>
          <a:lstStyle/>
          <a:p>
            <a:endParaRPr lang="en-US"/>
          </a:p>
        </p:txBody>
      </p:sp>
      <p:sp>
        <p:nvSpPr>
          <p:cNvPr id="3" name="Text 1">
            <a:extLst>
              <a:ext uri="{FF2B5EF4-FFF2-40B4-BE49-F238E27FC236}">
                <a16:creationId xmlns:a16="http://schemas.microsoft.com/office/drawing/2014/main" id="{464A1A99-F0AD-D21D-8487-7E6B8D9B9DEE}"/>
              </a:ext>
            </a:extLst>
          </p:cNvPr>
          <p:cNvSpPr/>
          <p:nvPr/>
        </p:nvSpPr>
        <p:spPr>
          <a:xfrm>
            <a:off x="365760" y="0"/>
            <a:ext cx="8229600" cy="777240"/>
          </a:xfrm>
          <a:prstGeom prst="rect">
            <a:avLst/>
          </a:prstGeom>
          <a:noFill/>
          <a:ln/>
        </p:spPr>
        <p:txBody>
          <a:bodyPr wrap="square" rtlCol="0" anchor="ctr"/>
          <a:lstStyle/>
          <a:p>
            <a:pPr marL="0" indent="0" algn="l">
              <a:buNone/>
            </a:pPr>
            <a:endParaRPr lang="en-US" sz="2000" dirty="0"/>
          </a:p>
        </p:txBody>
      </p:sp>
      <p:sp>
        <p:nvSpPr>
          <p:cNvPr id="4" name="Text 2">
            <a:extLst>
              <a:ext uri="{FF2B5EF4-FFF2-40B4-BE49-F238E27FC236}">
                <a16:creationId xmlns:a16="http://schemas.microsoft.com/office/drawing/2014/main" id="{D214C949-2329-B19A-4178-1CEDA823D14C}"/>
              </a:ext>
            </a:extLst>
          </p:cNvPr>
          <p:cNvSpPr/>
          <p:nvPr/>
        </p:nvSpPr>
        <p:spPr>
          <a:xfrm>
            <a:off x="8412480" y="0"/>
            <a:ext cx="548640" cy="777240"/>
          </a:xfrm>
          <a:prstGeom prst="rect">
            <a:avLst/>
          </a:prstGeom>
          <a:noFill/>
          <a:ln/>
        </p:spPr>
        <p:txBody>
          <a:bodyPr wrap="square" rtlCol="0" anchor="ctr"/>
          <a:lstStyle/>
          <a:p>
            <a:pPr marL="0" indent="0" algn="r">
              <a:buNone/>
            </a:pPr>
            <a:endParaRPr lang="en-US" sz="2000" dirty="0"/>
          </a:p>
        </p:txBody>
      </p:sp>
      <p:sp>
        <p:nvSpPr>
          <p:cNvPr id="26" name="Shape 24">
            <a:extLst>
              <a:ext uri="{FF2B5EF4-FFF2-40B4-BE49-F238E27FC236}">
                <a16:creationId xmlns:a16="http://schemas.microsoft.com/office/drawing/2014/main" id="{79268A49-316F-1E69-7A75-F2FF49100F14}"/>
              </a:ext>
            </a:extLst>
          </p:cNvPr>
          <p:cNvSpPr/>
          <p:nvPr/>
        </p:nvSpPr>
        <p:spPr>
          <a:xfrm>
            <a:off x="0" y="4983480"/>
            <a:ext cx="9144000" cy="160020"/>
          </a:xfrm>
          <a:prstGeom prst="rect">
            <a:avLst/>
          </a:prstGeom>
          <a:solidFill>
            <a:srgbClr val="2C5F2D"/>
          </a:solidFill>
          <a:ln w="12700">
            <a:solidFill>
              <a:srgbClr val="2C5F2D"/>
            </a:solidFill>
            <a:prstDash val="solid"/>
          </a:ln>
        </p:spPr>
        <p:txBody>
          <a:bodyPr/>
          <a:lstStyle/>
          <a:p>
            <a:endParaRPr lang="en-US"/>
          </a:p>
        </p:txBody>
      </p:sp>
      <p:sp>
        <p:nvSpPr>
          <p:cNvPr id="27" name="Text 25">
            <a:extLst>
              <a:ext uri="{FF2B5EF4-FFF2-40B4-BE49-F238E27FC236}">
                <a16:creationId xmlns:a16="http://schemas.microsoft.com/office/drawing/2014/main" id="{DE126127-CF96-F6E7-D011-BBE9DCE5A8D6}"/>
              </a:ext>
            </a:extLst>
          </p:cNvPr>
          <p:cNvSpPr/>
          <p:nvPr/>
        </p:nvSpPr>
        <p:spPr>
          <a:xfrm>
            <a:off x="0" y="4983480"/>
            <a:ext cx="9144000" cy="160020"/>
          </a:xfrm>
          <a:prstGeom prst="rect">
            <a:avLst/>
          </a:prstGeom>
          <a:noFill/>
          <a:ln/>
        </p:spPr>
        <p:txBody>
          <a:bodyPr wrap="square" rtlCol="0" anchor="ctr"/>
          <a:lstStyle/>
          <a:p>
            <a:pPr marL="0" indent="0" algn="ctr">
              <a:buNone/>
            </a:pPr>
            <a:endParaRPr lang="en-US" sz="800" dirty="0"/>
          </a:p>
        </p:txBody>
      </p:sp>
      <p:sp>
        <p:nvSpPr>
          <p:cNvPr id="34" name="TextBox 33">
            <a:extLst>
              <a:ext uri="{FF2B5EF4-FFF2-40B4-BE49-F238E27FC236}">
                <a16:creationId xmlns:a16="http://schemas.microsoft.com/office/drawing/2014/main" id="{A36BDEFD-7604-F625-0C34-E884A6D0C6F2}"/>
              </a:ext>
            </a:extLst>
          </p:cNvPr>
          <p:cNvSpPr txBox="1"/>
          <p:nvPr/>
        </p:nvSpPr>
        <p:spPr>
          <a:xfrm>
            <a:off x="1432560" y="1990803"/>
            <a:ext cx="6490367" cy="769441"/>
          </a:xfrm>
          <a:prstGeom prst="rect">
            <a:avLst/>
          </a:prstGeom>
          <a:noFill/>
        </p:spPr>
        <p:txBody>
          <a:bodyPr wrap="none" rtlCol="0">
            <a:spAutoFit/>
          </a:bodyPr>
          <a:lstStyle/>
          <a:p>
            <a:pPr algn="ctr"/>
            <a:r>
              <a:rPr lang="en-GB" sz="2400" b="1" dirty="0">
                <a:solidFill>
                  <a:schemeClr val="bg1"/>
                </a:solidFill>
              </a:rPr>
              <a:t>Ready for the Next Generation of Tea Harvesters?</a:t>
            </a:r>
            <a:br>
              <a:rPr lang="en-GB" sz="2400" b="1" dirty="0">
                <a:solidFill>
                  <a:schemeClr val="bg1"/>
                </a:solidFill>
              </a:rPr>
            </a:br>
            <a:r>
              <a:rPr lang="en-US" i="1" dirty="0">
                <a:solidFill>
                  <a:schemeClr val="bg1"/>
                </a:solidFill>
              </a:rPr>
              <a:t>Let’s innovate</a:t>
            </a:r>
            <a:r>
              <a:rPr lang="en-US" sz="2000" i="1" dirty="0">
                <a:solidFill>
                  <a:schemeClr val="bg1"/>
                </a:solidFill>
              </a:rPr>
              <a:t>, </a:t>
            </a:r>
            <a:r>
              <a:rPr lang="en-US" i="1" dirty="0">
                <a:solidFill>
                  <a:schemeClr val="bg1"/>
                </a:solidFill>
              </a:rPr>
              <a:t>Efficient &amp; Quality-Oriented Solutions</a:t>
            </a:r>
          </a:p>
        </p:txBody>
      </p:sp>
      <p:sp>
        <p:nvSpPr>
          <p:cNvPr id="9" name="TextBox 8">
            <a:extLst>
              <a:ext uri="{FF2B5EF4-FFF2-40B4-BE49-F238E27FC236}">
                <a16:creationId xmlns:a16="http://schemas.microsoft.com/office/drawing/2014/main" id="{C198DAE5-7716-DAF4-8A4E-B1837B378C36}"/>
              </a:ext>
            </a:extLst>
          </p:cNvPr>
          <p:cNvSpPr txBox="1"/>
          <p:nvPr/>
        </p:nvSpPr>
        <p:spPr>
          <a:xfrm>
            <a:off x="457199" y="4428961"/>
            <a:ext cx="2167467" cy="369332"/>
          </a:xfrm>
          <a:prstGeom prst="rect">
            <a:avLst/>
          </a:prstGeom>
          <a:noFill/>
        </p:spPr>
        <p:txBody>
          <a:bodyPr wrap="square" rtlCol="0">
            <a:spAutoFit/>
          </a:bodyPr>
          <a:lstStyle/>
          <a:p>
            <a:r>
              <a:rPr lang="en-US">
                <a:solidFill>
                  <a:schemeClr val="bg1"/>
                </a:solidFill>
              </a:rPr>
              <a:t> </a:t>
            </a:r>
            <a:endParaRPr lang="en-US" dirty="0">
              <a:solidFill>
                <a:schemeClr val="bg1"/>
              </a:solidFill>
            </a:endParaRPr>
          </a:p>
        </p:txBody>
      </p:sp>
      <p:pic>
        <p:nvPicPr>
          <p:cNvPr id="10" name="Picture 9">
            <a:extLst>
              <a:ext uri="{FF2B5EF4-FFF2-40B4-BE49-F238E27FC236}">
                <a16:creationId xmlns:a16="http://schemas.microsoft.com/office/drawing/2014/main" id="{B084BB98-F2F4-C213-4C68-67FF43264A6F}"/>
              </a:ext>
            </a:extLst>
          </p:cNvPr>
          <p:cNvPicPr>
            <a:picLocks noChangeAspect="1"/>
          </p:cNvPicPr>
          <p:nvPr/>
        </p:nvPicPr>
        <p:blipFill>
          <a:blip r:embed="rId3"/>
          <a:stretch>
            <a:fillRect/>
          </a:stretch>
        </p:blipFill>
        <p:spPr>
          <a:xfrm>
            <a:off x="0" y="10472"/>
            <a:ext cx="9144000" cy="5122555"/>
          </a:xfrm>
          <a:prstGeom prst="rect">
            <a:avLst/>
          </a:prstGeom>
        </p:spPr>
      </p:pic>
    </p:spTree>
    <p:extLst>
      <p:ext uri="{BB962C8B-B14F-4D97-AF65-F5344CB8AC3E}">
        <p14:creationId xmlns:p14="http://schemas.microsoft.com/office/powerpoint/2010/main" val="409035611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10"/>
                                        </p:tgtEl>
                                      </p:cBhvr>
                                    </p:animEffect>
                                    <p:anim calcmode="lin" valueType="num">
                                      <p:cBhvr>
                                        <p:cTn id="7" dur="1000"/>
                                        <p:tgtEl>
                                          <p:spTgt spid="10"/>
                                        </p:tgtEl>
                                        <p:attrNameLst>
                                          <p:attrName>ppt_x</p:attrName>
                                        </p:attrNameLst>
                                      </p:cBhvr>
                                      <p:tavLst>
                                        <p:tav tm="0">
                                          <p:val>
                                            <p:strVal val="ppt_x"/>
                                          </p:val>
                                        </p:tav>
                                        <p:tav tm="100000">
                                          <p:val>
                                            <p:strVal val="ppt_x"/>
                                          </p:val>
                                        </p:tav>
                                      </p:tavLst>
                                    </p:anim>
                                    <p:anim calcmode="lin" valueType="num">
                                      <p:cBhvr>
                                        <p:cTn id="8" dur="1000"/>
                                        <p:tgtEl>
                                          <p:spTgt spid="10"/>
                                        </p:tgtEl>
                                        <p:attrNameLst>
                                          <p:attrName>ppt_y</p:attrName>
                                        </p:attrNameLst>
                                      </p:cBhvr>
                                      <p:tavLst>
                                        <p:tav tm="0">
                                          <p:val>
                                            <p:strVal val="ppt_y"/>
                                          </p:val>
                                        </p:tav>
                                        <p:tav tm="100000">
                                          <p:val>
                                            <p:strVal val="ppt_y+.1"/>
                                          </p:val>
                                        </p:tav>
                                      </p:tavLst>
                                    </p:anim>
                                    <p:set>
                                      <p:cBhvr>
                                        <p:cTn id="9"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TotalTime>
  <Words>634</Words>
  <Application>Microsoft Office PowerPoint</Application>
  <PresentationFormat>On-screen Show (16:9)</PresentationFormat>
  <Paragraphs>122</Paragraphs>
  <Slides>7</Slides>
  <Notes>7</Notes>
  <HiddenSlides>0</HiddenSlides>
  <MMClips>2</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Design for Precision Tea Harvesting</dc:title>
  <dc:subject>PptxGenJS Presentation</dc:subject>
  <dc:creator>PptxGenJS</dc:creator>
  <cp:lastModifiedBy>Theekshana Dilhara</cp:lastModifiedBy>
  <cp:revision>21</cp:revision>
  <dcterms:created xsi:type="dcterms:W3CDTF">2026-05-09T06:34:39Z</dcterms:created>
  <dcterms:modified xsi:type="dcterms:W3CDTF">2026-05-11T16:49:58Z</dcterms:modified>
</cp:coreProperties>
</file>